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8" r:id="rId6"/>
    <p:sldId id="283" r:id="rId7"/>
    <p:sldId id="261" r:id="rId8"/>
    <p:sldId id="262" r:id="rId9"/>
    <p:sldId id="270" r:id="rId10"/>
    <p:sldId id="280" r:id="rId11"/>
    <p:sldId id="263" r:id="rId12"/>
    <p:sldId id="274" r:id="rId13"/>
    <p:sldId id="271" r:id="rId14"/>
    <p:sldId id="275" r:id="rId15"/>
    <p:sldId id="264" r:id="rId16"/>
    <p:sldId id="276" r:id="rId17"/>
    <p:sldId id="281" r:id="rId18"/>
    <p:sldId id="265" r:id="rId19"/>
    <p:sldId id="277" r:id="rId20"/>
    <p:sldId id="278" r:id="rId21"/>
    <p:sldId id="279" r:id="rId22"/>
    <p:sldId id="267" r:id="rId23"/>
    <p:sldId id="282" r:id="rId24"/>
    <p:sldId id="26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2736" autoAdjust="0"/>
  </p:normalViewPr>
  <p:slideViewPr>
    <p:cSldViewPr snapToGrid="0">
      <p:cViewPr varScale="1">
        <p:scale>
          <a:sx n="102" d="100"/>
          <a:sy n="102" d="100"/>
        </p:scale>
        <p:origin x="9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501A-2425-4BFB-B8E7-B39DC34F901F}" type="datetimeFigureOut">
              <a:rPr lang="de-DE" smtClean="0"/>
              <a:t>11.11.2025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17174-132C-4EF2-944E-85E91701ED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70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17174-132C-4EF2-944E-85E91701EDD5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482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14FFF2C-4EE2-4075-8811-2C4A4ED6425C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66958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3BAD-120F-4E3C-B7D2-A1E9E5627D27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1715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7A43CD-F601-42D4-BF6A-7CFFF6EAF02F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077455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648CC-0BBF-4BB8-B6AC-2E03EB69D327}" type="datetime1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632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A3915-64AE-4751-B88D-8C7E6C6BD439}" type="datetime1">
              <a:rPr lang="de-DE" smtClean="0"/>
              <a:t>11.11.2025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544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92EDB-2B13-4E3E-B879-5917B7E7B2F6}" type="datetime1">
              <a:rPr lang="de-DE" smtClean="0"/>
              <a:t>11.11.2025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38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870BF-5EA1-49D5-8BF3-5CDA86120559}" type="datetime1">
              <a:rPr lang="de-DE" smtClean="0"/>
              <a:t>11.11.2025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2F3D8BBD-EB95-4AEC-9817-329AFD8E1007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937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D0725C-2BA8-4C33-9E7F-41DD19466953}" type="datetime1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879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6A1C5F-092C-4B78-B28A-8D3472B35E0E}" type="datetime1">
              <a:rPr lang="de-DE" smtClean="0"/>
              <a:t>11.11.2025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5830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E6525-B471-4944-B171-82DAF5D7059A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742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EBF37-AC67-46FB-A61E-6E5212DF056A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45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29C62ED-04F0-4DE5-8D24-603D8212A1B5}" type="datetime1">
              <a:rPr lang="de-DE" smtClean="0"/>
              <a:t>11.11.2025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95708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F3D8BBD-EB95-4AEC-9817-329AFD8E1007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865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plotly.com/" TargetMode="External"/><Relationship Id="rId3" Type="http://schemas.openxmlformats.org/officeDocument/2006/relationships/hyperlink" Target="https://www.cs.toronto.edu/~kriz/cifar.html" TargetMode="External"/><Relationship Id="rId7" Type="http://schemas.openxmlformats.org/officeDocument/2006/relationships/hyperlink" Target="https://optuna.org/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andas.pydata.org/" TargetMode="External"/><Relationship Id="rId5" Type="http://schemas.openxmlformats.org/officeDocument/2006/relationships/hyperlink" Target="https://numpy.org/" TargetMode="External"/><Relationship Id="rId4" Type="http://schemas.openxmlformats.org/officeDocument/2006/relationships/hyperlink" Target="https://pytorch.org/" TargetMode="External"/><Relationship Id="rId9" Type="http://schemas.openxmlformats.org/officeDocument/2006/relationships/hyperlink" Target="https://towardsdatascience.com/a-visual-guide-to-learning-rate-schedulers-in-pytorch-24bbb262c863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5206848" TargetMode="Externa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s.stanford.edu/people/karpathy/cnnembed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E70EF2-0656-1765-A581-20245D680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418" y="1888837"/>
            <a:ext cx="10909073" cy="1654629"/>
          </a:xfrm>
        </p:spPr>
        <p:txBody>
          <a:bodyPr>
            <a:normAutofit/>
          </a:bodyPr>
          <a:lstStyle/>
          <a:p>
            <a:pPr algn="ctr"/>
            <a:r>
              <a:rPr lang="de-DE" sz="4000" dirty="0"/>
              <a:t>KI-Systeme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161AF0-D82B-7AC7-6ACD-0C8AF1A74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1468" y="4217040"/>
            <a:ext cx="9622971" cy="771743"/>
          </a:xfrm>
        </p:spPr>
        <p:txBody>
          <a:bodyPr>
            <a:normAutofit/>
          </a:bodyPr>
          <a:lstStyle/>
          <a:p>
            <a:pPr algn="ctr"/>
            <a:r>
              <a:rPr lang="de-DE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Klassifikation des CIFAR-10 Datensatzes über Vision Transformer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38BE7C2-EEB5-A500-2BE6-DCB990D756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249" y="279934"/>
            <a:ext cx="4467802" cy="1608903"/>
          </a:xfrm>
          <a:prstGeom prst="rect">
            <a:avLst/>
          </a:prstGeom>
        </p:spPr>
      </p:pic>
      <p:sp>
        <p:nvSpPr>
          <p:cNvPr id="5" name="Untertitel 2">
            <a:extLst>
              <a:ext uri="{FF2B5EF4-FFF2-40B4-BE49-F238E27FC236}">
                <a16:creationId xmlns:a16="http://schemas.microsoft.com/office/drawing/2014/main" id="{F9835A2E-987A-B689-1031-89A611B012D5}"/>
              </a:ext>
            </a:extLst>
          </p:cNvPr>
          <p:cNvSpPr txBox="1">
            <a:spLocks/>
          </p:cNvSpPr>
          <p:nvPr/>
        </p:nvSpPr>
        <p:spPr>
          <a:xfrm>
            <a:off x="167044" y="5385914"/>
            <a:ext cx="7291032" cy="771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Autor: Lars Brinkmann</a:t>
            </a:r>
          </a:p>
          <a:p>
            <a:r>
              <a:rPr lang="de-DE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Matrikelnummer: 7106769</a:t>
            </a:r>
          </a:p>
          <a:p>
            <a:endParaRPr lang="de-DE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807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CF0433F-0EEC-814C-A030-5DBB7894F34A}"/>
              </a:ext>
            </a:extLst>
          </p:cNvPr>
          <p:cNvSpPr txBox="1"/>
          <p:nvPr/>
        </p:nvSpPr>
        <p:spPr>
          <a:xfrm>
            <a:off x="1638298" y="611642"/>
            <a:ext cx="4743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Gliederung des Vortrags: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4188160" y="1450717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35C8AA6-4505-9E26-1F76-2E0B31AE9D1A}"/>
              </a:ext>
            </a:extLst>
          </p:cNvPr>
          <p:cNvSpPr/>
          <p:nvPr/>
        </p:nvSpPr>
        <p:spPr>
          <a:xfrm>
            <a:off x="4188160" y="2562900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4336706" y="1530736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5F8C1CA-28F3-0B96-11A2-D19260E04CC6}"/>
              </a:ext>
            </a:extLst>
          </p:cNvPr>
          <p:cNvSpPr txBox="1"/>
          <p:nvPr/>
        </p:nvSpPr>
        <p:spPr>
          <a:xfrm>
            <a:off x="4336706" y="2656168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5118443" y="1576902"/>
            <a:ext cx="449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Theorie: Transformer und Vision Transformer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7FF7B70-B0CF-A23D-2BC1-745A79B6FD5F}"/>
              </a:ext>
            </a:extLst>
          </p:cNvPr>
          <p:cNvSpPr txBox="1"/>
          <p:nvPr/>
        </p:nvSpPr>
        <p:spPr>
          <a:xfrm>
            <a:off x="5118443" y="2562900"/>
            <a:ext cx="54589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Vision Transformer </a:t>
            </a:r>
            <a:r>
              <a:rPr lang="de-DE" dirty="0" err="1"/>
              <a:t>from</a:t>
            </a:r>
            <a:r>
              <a:rPr lang="de-DE" dirty="0"/>
              <a:t> Scratch:</a:t>
            </a:r>
          </a:p>
          <a:p>
            <a:pPr marL="400050" indent="-400050">
              <a:buFont typeface="+mj-lt"/>
              <a:buAutoNum type="romanUcPeriod"/>
            </a:pPr>
            <a:r>
              <a:rPr lang="de-DE" dirty="0"/>
              <a:t>Methodik: Architektur, </a:t>
            </a:r>
            <a:r>
              <a:rPr lang="de-DE" dirty="0" err="1"/>
              <a:t>Preprocessing</a:t>
            </a:r>
            <a:r>
              <a:rPr lang="de-DE" dirty="0"/>
              <a:t>, Optimierung</a:t>
            </a:r>
          </a:p>
          <a:p>
            <a:pPr marL="400050" indent="-400050">
              <a:buFont typeface="+mj-lt"/>
              <a:buAutoNum type="romanUcPeriod"/>
            </a:pPr>
            <a:r>
              <a:rPr lang="de-DE" dirty="0"/>
              <a:t>CIFAR-10 Training</a:t>
            </a:r>
          </a:p>
          <a:p>
            <a:pPr marL="400050" indent="-400050">
              <a:buFont typeface="+mj-lt"/>
              <a:buAutoNum type="romanUcPeriod"/>
            </a:pPr>
            <a:r>
              <a:rPr lang="de-DE" dirty="0"/>
              <a:t>CIFAR-100 </a:t>
            </a:r>
            <a:r>
              <a:rPr lang="de-DE" dirty="0" err="1"/>
              <a:t>Pretraining</a:t>
            </a:r>
            <a:r>
              <a:rPr lang="de-DE" dirty="0"/>
              <a:t> und CIFAR-10 Finetuning</a:t>
            </a:r>
          </a:p>
          <a:p>
            <a:pPr marL="400050" indent="-400050">
              <a:buFont typeface="+mj-lt"/>
              <a:buAutoNum type="romanUcPeriod"/>
            </a:pPr>
            <a:r>
              <a:rPr lang="de-DE" dirty="0"/>
              <a:t>Zusammenfassung und Rechenaufwand</a:t>
            </a: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72E8B8E2-4348-5E22-AFB8-A83967924354}"/>
              </a:ext>
            </a:extLst>
          </p:cNvPr>
          <p:cNvCxnSpPr>
            <a:cxnSpLocks/>
          </p:cNvCxnSpPr>
          <p:nvPr/>
        </p:nvCxnSpPr>
        <p:spPr>
          <a:xfrm>
            <a:off x="4511076" y="2088892"/>
            <a:ext cx="0" cy="4740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156A8C4A-8B8F-38FE-7155-2B06726B86C6}"/>
              </a:ext>
            </a:extLst>
          </p:cNvPr>
          <p:cNvSpPr txBox="1"/>
          <p:nvPr/>
        </p:nvSpPr>
        <p:spPr>
          <a:xfrm>
            <a:off x="5118443" y="4264700"/>
            <a:ext cx="3123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Pretrained</a:t>
            </a:r>
            <a:r>
              <a:rPr lang="de-DE" dirty="0"/>
              <a:t> Vision Transformer:</a:t>
            </a:r>
          </a:p>
          <a:p>
            <a:pPr marL="400050" indent="-400050">
              <a:buFont typeface="+mj-lt"/>
              <a:buAutoNum type="romanUcPeriod"/>
            </a:pPr>
            <a:r>
              <a:rPr lang="de-DE" dirty="0" err="1"/>
              <a:t>ViT</a:t>
            </a:r>
            <a:r>
              <a:rPr lang="de-DE" dirty="0"/>
              <a:t>-Base ImageNet21k</a:t>
            </a:r>
          </a:p>
          <a:p>
            <a:pPr marL="400050" indent="-400050">
              <a:buFont typeface="+mj-lt"/>
              <a:buAutoNum type="romanUcPeriod"/>
            </a:pPr>
            <a:r>
              <a:rPr lang="de-DE" dirty="0" err="1"/>
              <a:t>ViT</a:t>
            </a:r>
            <a:r>
              <a:rPr lang="de-DE" dirty="0"/>
              <a:t>-Large ImageNet21k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4FA5034-511C-D105-B9D7-59481570F718}"/>
              </a:ext>
            </a:extLst>
          </p:cNvPr>
          <p:cNvSpPr txBox="1"/>
          <p:nvPr/>
        </p:nvSpPr>
        <p:spPr>
          <a:xfrm>
            <a:off x="5118443" y="5519391"/>
            <a:ext cx="1934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Fazit und Ausblick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169E9654-C2C9-2833-A69B-6506AAD74618}"/>
              </a:ext>
            </a:extLst>
          </p:cNvPr>
          <p:cNvSpPr/>
          <p:nvPr/>
        </p:nvSpPr>
        <p:spPr>
          <a:xfrm>
            <a:off x="4188160" y="4264700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D2F275C5-5B79-04E8-63C2-26923B5E3A9C}"/>
              </a:ext>
            </a:extLst>
          </p:cNvPr>
          <p:cNvSpPr/>
          <p:nvPr/>
        </p:nvSpPr>
        <p:spPr>
          <a:xfrm>
            <a:off x="4188160" y="5376883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976DB8C9-383D-6F0A-982C-E0B4D9C4C5D1}"/>
              </a:ext>
            </a:extLst>
          </p:cNvPr>
          <p:cNvSpPr txBox="1"/>
          <p:nvPr/>
        </p:nvSpPr>
        <p:spPr>
          <a:xfrm>
            <a:off x="4337498" y="432830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3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EA9E392-03F7-D881-D88E-F1235071A91D}"/>
              </a:ext>
            </a:extLst>
          </p:cNvPr>
          <p:cNvSpPr txBox="1"/>
          <p:nvPr/>
        </p:nvSpPr>
        <p:spPr>
          <a:xfrm>
            <a:off x="4336706" y="5465138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4</a:t>
            </a:r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494CA628-D754-213B-9DC2-E8B60819A904}"/>
              </a:ext>
            </a:extLst>
          </p:cNvPr>
          <p:cNvCxnSpPr>
            <a:cxnSpLocks/>
          </p:cNvCxnSpPr>
          <p:nvPr/>
        </p:nvCxnSpPr>
        <p:spPr>
          <a:xfrm>
            <a:off x="4511076" y="4902875"/>
            <a:ext cx="0" cy="4740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846F89A7-E8CD-0BD9-2A5F-C97F829DF0DD}"/>
              </a:ext>
            </a:extLst>
          </p:cNvPr>
          <p:cNvCxnSpPr>
            <a:cxnSpLocks/>
          </p:cNvCxnSpPr>
          <p:nvPr/>
        </p:nvCxnSpPr>
        <p:spPr>
          <a:xfrm>
            <a:off x="4519609" y="3201075"/>
            <a:ext cx="0" cy="10653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oliennummernplatzhalter 49">
            <a:extLst>
              <a:ext uri="{FF2B5EF4-FFF2-40B4-BE49-F238E27FC236}">
                <a16:creationId xmlns:a16="http://schemas.microsoft.com/office/drawing/2014/main" id="{9864AB6A-51E1-84FA-F7CB-F48B6AFD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973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393480" y="41591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2194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Theorie: Transformer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B966362-4914-5225-2EA3-37B8FFE63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1" y="3616435"/>
            <a:ext cx="4372645" cy="239299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3FFDD13-842F-F84A-BEEB-A1725A5A4E30}"/>
              </a:ext>
            </a:extLst>
          </p:cNvPr>
          <p:cNvSpPr txBox="1"/>
          <p:nvPr/>
        </p:nvSpPr>
        <p:spPr>
          <a:xfrm>
            <a:off x="1150331" y="1344055"/>
            <a:ext cx="428120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2017: Google stellt Transformer Model zur Lösung von Sequenz basierten Aufgaben vor [1]</a:t>
            </a:r>
          </a:p>
          <a:p>
            <a:endParaRPr lang="de-DE" sz="1600" dirty="0"/>
          </a:p>
          <a:p>
            <a:r>
              <a:rPr lang="de-DE" sz="1600" dirty="0"/>
              <a:t>2024: Transformer Modelle als Goldstandard für diverse sequentielle Probleme:</a:t>
            </a:r>
          </a:p>
          <a:p>
            <a:pPr marL="285750" indent="-285750">
              <a:buFontTx/>
              <a:buChar char="-"/>
            </a:pPr>
            <a:r>
              <a:rPr lang="de-DE" sz="1600" dirty="0"/>
              <a:t>NLP (LLMs wie </a:t>
            </a:r>
            <a:r>
              <a:rPr lang="de-DE" sz="1600" dirty="0" err="1"/>
              <a:t>ChatGPT</a:t>
            </a:r>
            <a:r>
              <a:rPr lang="de-DE" sz="1600" dirty="0"/>
              <a:t>, </a:t>
            </a:r>
            <a:r>
              <a:rPr lang="de-DE" sz="1600" dirty="0" err="1"/>
              <a:t>Llama</a:t>
            </a:r>
            <a:r>
              <a:rPr lang="de-DE" sz="1600" dirty="0"/>
              <a:t>, Claude…)</a:t>
            </a:r>
          </a:p>
          <a:p>
            <a:pPr marL="285750" indent="-285750">
              <a:buFontTx/>
              <a:buChar char="-"/>
            </a:pPr>
            <a:r>
              <a:rPr lang="de-DE" sz="1600" dirty="0"/>
              <a:t>Zeitreihenanalyse (Finanzsektor)</a:t>
            </a:r>
          </a:p>
          <a:p>
            <a:pPr marL="285750" indent="-285750">
              <a:buFontTx/>
              <a:buChar char="-"/>
            </a:pPr>
            <a:r>
              <a:rPr lang="de-DE" sz="1600" dirty="0"/>
              <a:t>Biologie (</a:t>
            </a:r>
            <a:r>
              <a:rPr lang="de-DE" sz="1600" dirty="0" err="1"/>
              <a:t>zb</a:t>
            </a:r>
            <a:r>
              <a:rPr lang="de-DE" sz="1600" dirty="0"/>
              <a:t>. Proteinsequenzen)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19EEE3A-CC7D-E962-B521-A7766B37A050}"/>
              </a:ext>
            </a:extLst>
          </p:cNvPr>
          <p:cNvSpPr txBox="1"/>
          <p:nvPr/>
        </p:nvSpPr>
        <p:spPr>
          <a:xfrm>
            <a:off x="6496068" y="2136338"/>
            <a:ext cx="48646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Stärken der Transformer Architektur:</a:t>
            </a:r>
          </a:p>
          <a:p>
            <a:pPr marL="342900" indent="-342900">
              <a:buAutoNum type="arabicPeriod"/>
            </a:pPr>
            <a:r>
              <a:rPr lang="de-DE" b="1" dirty="0"/>
              <a:t>Self-Attention Mechanismus: </a:t>
            </a:r>
            <a:r>
              <a:rPr lang="de-DE" dirty="0"/>
              <a:t>Ermöglicht die Bedeutung  einzelner Wörter (bzw. Tokens) in einer Sequenz zueinander zu gewichten. </a:t>
            </a:r>
          </a:p>
          <a:p>
            <a:pPr marL="342900" indent="-342900">
              <a:buAutoNum type="arabicPeriod"/>
            </a:pPr>
            <a:r>
              <a:rPr lang="de-DE" b="1" dirty="0"/>
              <a:t>Positionscodierung: </a:t>
            </a:r>
            <a:r>
              <a:rPr lang="de-DE" dirty="0"/>
              <a:t>Informationen zur Reihenfolge der Wörter</a:t>
            </a:r>
          </a:p>
          <a:p>
            <a:pPr marL="342900" indent="-342900">
              <a:buAutoNum type="arabicPeriod"/>
            </a:pPr>
            <a:r>
              <a:rPr lang="de-DE" b="1" dirty="0"/>
              <a:t>Skalierbarkeit durch Parallelisierung: </a:t>
            </a:r>
            <a:r>
              <a:rPr lang="de-DE" dirty="0"/>
              <a:t>Keine sequentielle Verarbeitung wie bei RNNs</a:t>
            </a:r>
          </a:p>
          <a:p>
            <a:pPr marL="342900" indent="-342900">
              <a:buAutoNum type="arabicPeriod"/>
            </a:pP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6EEA468-B94A-87BE-C5C8-785B776AAF7A}"/>
              </a:ext>
            </a:extLst>
          </p:cNvPr>
          <p:cNvSpPr txBox="1"/>
          <p:nvPr/>
        </p:nvSpPr>
        <p:spPr>
          <a:xfrm>
            <a:off x="3245492" y="5911925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[1]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DDE79E-F532-0844-2084-1E7FA068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925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393480" y="41591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289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Theorie: Vision Transformer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7B47F6A-9160-544A-BBC8-4DE0947FC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480" y="1196047"/>
            <a:ext cx="4678567" cy="223295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1A691B3-6203-2155-3FD8-1331ACA0D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369" y="3116349"/>
            <a:ext cx="1788337" cy="309978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E4C106F7-CA64-61E3-383D-E5274468FD4C}"/>
              </a:ext>
            </a:extLst>
          </p:cNvPr>
          <p:cNvSpPr txBox="1"/>
          <p:nvPr/>
        </p:nvSpPr>
        <p:spPr>
          <a:xfrm>
            <a:off x="1126511" y="3524172"/>
            <a:ext cx="53911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Attention Mechanismus:</a:t>
            </a:r>
          </a:p>
          <a:p>
            <a:pPr marL="285750" indent="-285750">
              <a:buFontTx/>
              <a:buChar char="-"/>
            </a:pPr>
            <a:r>
              <a:rPr lang="de-DE" dirty="0"/>
              <a:t>Für NLP: Zusammenhängende einzelner Tokens (Wörter) zueinander</a:t>
            </a:r>
          </a:p>
          <a:p>
            <a:pPr marL="285750" indent="-285750">
              <a:buFontTx/>
              <a:buChar char="-"/>
            </a:pPr>
            <a:r>
              <a:rPr lang="de-DE" dirty="0"/>
              <a:t>Bsp. : „[…] </a:t>
            </a:r>
            <a:r>
              <a:rPr lang="de-DE" dirty="0" err="1"/>
              <a:t>making</a:t>
            </a:r>
            <a:r>
              <a:rPr lang="de-DE" dirty="0"/>
              <a:t> […]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difficult</a:t>
            </a:r>
            <a:r>
              <a:rPr lang="de-DE" dirty="0"/>
              <a:t>“ gehört semantisch zusammen 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Vision Transformer (</a:t>
            </a:r>
            <a:r>
              <a:rPr lang="de-DE" dirty="0" err="1"/>
              <a:t>ViT</a:t>
            </a:r>
            <a:r>
              <a:rPr lang="de-DE" dirty="0"/>
              <a:t>): Zusammenhänge der Patches (Teile des Bildes) zueinander</a:t>
            </a:r>
          </a:p>
          <a:p>
            <a:pPr marL="285750" indent="-285750">
              <a:buFontTx/>
              <a:buChar char="-"/>
            </a:pPr>
            <a:r>
              <a:rPr lang="de-DE" dirty="0"/>
              <a:t>Bsp. : Teile eines Tiers / Objekts werden als zugehörig erkannt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50A7256-259B-BEEE-6237-A20B37225A1D}"/>
              </a:ext>
            </a:extLst>
          </p:cNvPr>
          <p:cNvSpPr txBox="1"/>
          <p:nvPr/>
        </p:nvSpPr>
        <p:spPr>
          <a:xfrm>
            <a:off x="6517619" y="1313559"/>
            <a:ext cx="50600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2021 Google Research Paper [2]</a:t>
            </a:r>
          </a:p>
          <a:p>
            <a:pPr marL="285750" indent="-285750">
              <a:buFontTx/>
              <a:buChar char="-"/>
            </a:pPr>
            <a:r>
              <a:rPr lang="de-DE" b="1" dirty="0"/>
              <a:t>Kompetitive Performance</a:t>
            </a:r>
            <a:r>
              <a:rPr lang="de-DE" dirty="0"/>
              <a:t> zu </a:t>
            </a:r>
            <a:r>
              <a:rPr lang="de-DE" dirty="0" err="1"/>
              <a:t>state</a:t>
            </a:r>
            <a:r>
              <a:rPr lang="de-DE" dirty="0"/>
              <a:t>-</a:t>
            </a:r>
            <a:r>
              <a:rPr lang="de-DE" dirty="0" err="1"/>
              <a:t>of</a:t>
            </a:r>
            <a:r>
              <a:rPr lang="de-DE" dirty="0"/>
              <a:t>-</a:t>
            </a:r>
            <a:r>
              <a:rPr lang="de-DE" dirty="0" err="1"/>
              <a:t>the</a:t>
            </a:r>
            <a:r>
              <a:rPr lang="de-DE" dirty="0"/>
              <a:t>-art CNNs bei der Bildklassifikation</a:t>
            </a:r>
          </a:p>
          <a:p>
            <a:pPr marL="285750" indent="-285750">
              <a:buFontTx/>
              <a:buChar char="-"/>
            </a:pPr>
            <a:r>
              <a:rPr lang="de-DE" b="1" dirty="0"/>
              <a:t>Sehr gute Skalierbarkeit</a:t>
            </a:r>
            <a:r>
              <a:rPr lang="de-DE" dirty="0"/>
              <a:t>: Transformer Architektur ermöglicht hohe Parallelität </a:t>
            </a:r>
          </a:p>
        </p:txBody>
      </p:sp>
      <p:pic>
        <p:nvPicPr>
          <p:cNvPr id="13" name="Grafik 12" descr="Ein Bild, das Text, Screenshot, Reihe, Diagramm enthält.&#10;&#10;Automatisch generierte Beschreibung">
            <a:extLst>
              <a:ext uri="{FF2B5EF4-FFF2-40B4-BE49-F238E27FC236}">
                <a16:creationId xmlns:a16="http://schemas.microsoft.com/office/drawing/2014/main" id="{C0993BF1-1497-25D1-3E4C-0B8D61989B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605" y="2881810"/>
            <a:ext cx="2516428" cy="384586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D7FE7D1-C2E2-8331-B2B9-03FC5F2C2BA3}"/>
              </a:ext>
            </a:extLst>
          </p:cNvPr>
          <p:cNvSpPr txBox="1"/>
          <p:nvPr/>
        </p:nvSpPr>
        <p:spPr>
          <a:xfrm>
            <a:off x="3477756" y="3256207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[2]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5349E69-05C9-25D4-1C85-41AEC17DA335}"/>
              </a:ext>
            </a:extLst>
          </p:cNvPr>
          <p:cNvSpPr txBox="1"/>
          <p:nvPr/>
        </p:nvSpPr>
        <p:spPr>
          <a:xfrm>
            <a:off x="9864387" y="6213138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[2]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F757FBD-6E77-4C10-5CA0-D6F8CBF58093}"/>
              </a:ext>
            </a:extLst>
          </p:cNvPr>
          <p:cNvSpPr txBox="1"/>
          <p:nvPr/>
        </p:nvSpPr>
        <p:spPr>
          <a:xfrm>
            <a:off x="7918688" y="6561461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[1]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3D18BDC5-0E59-27B9-9A35-4779E0F3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87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393480" y="41591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289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Theorie: Vision Transformer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4C106F7-CA64-61E3-383D-E5274468FD4C}"/>
              </a:ext>
            </a:extLst>
          </p:cNvPr>
          <p:cNvSpPr txBox="1"/>
          <p:nvPr/>
        </p:nvSpPr>
        <p:spPr>
          <a:xfrm>
            <a:off x="4555780" y="1196417"/>
            <a:ext cx="2734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Aufbau Vision Transformer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E05BB80-6CB7-92F7-8224-DC0C8CA54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930" y="1824122"/>
            <a:ext cx="7511056" cy="396416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BEDAEB5-F981-2FFC-B875-55F6D14F8DDD}"/>
              </a:ext>
            </a:extLst>
          </p:cNvPr>
          <p:cNvSpPr txBox="1"/>
          <p:nvPr/>
        </p:nvSpPr>
        <p:spPr>
          <a:xfrm>
            <a:off x="5923077" y="5634402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[2]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0B830F-15BD-E63B-F829-158E5F54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969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83642" y="422582"/>
            <a:ext cx="611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4679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Bibliotheken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2426AD9-47D6-4B40-F8F1-11D443233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961" y="3045200"/>
            <a:ext cx="4032077" cy="134659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AB01167-762A-C0B1-EE8A-6488D4C5B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312" y="1581412"/>
            <a:ext cx="3096057" cy="112410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2AFB54E-91D4-842B-A52E-5A7F051E2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6383" y="1522852"/>
            <a:ext cx="3291062" cy="112410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BEADF30-F222-5E81-4863-14CB10844A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081" y="4848592"/>
            <a:ext cx="2974943" cy="97311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AEAF2AE-37A2-AE5F-49F6-18262D2C02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6637" y="4905482"/>
            <a:ext cx="3710553" cy="85933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47BC716C-634F-4DEB-6563-559F47A54D11}"/>
              </a:ext>
            </a:extLst>
          </p:cNvPr>
          <p:cNvSpPr txBox="1"/>
          <p:nvPr/>
        </p:nvSpPr>
        <p:spPr>
          <a:xfrm>
            <a:off x="6087223" y="4065454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[4]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6D22BC1-AB44-4D3D-47EE-25078194B24A}"/>
              </a:ext>
            </a:extLst>
          </p:cNvPr>
          <p:cNvSpPr txBox="1"/>
          <p:nvPr/>
        </p:nvSpPr>
        <p:spPr>
          <a:xfrm>
            <a:off x="3023782" y="2632594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[5]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55026EE-8B01-733F-2301-8FBAD20EBACC}"/>
              </a:ext>
            </a:extLst>
          </p:cNvPr>
          <p:cNvSpPr txBox="1"/>
          <p:nvPr/>
        </p:nvSpPr>
        <p:spPr>
          <a:xfrm>
            <a:off x="3221913" y="5610925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[7]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9EEFC4D-E51D-9BB8-EF98-52F5E0D193CF}"/>
              </a:ext>
            </a:extLst>
          </p:cNvPr>
          <p:cNvSpPr txBox="1"/>
          <p:nvPr/>
        </p:nvSpPr>
        <p:spPr>
          <a:xfrm>
            <a:off x="8708340" y="2632594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[6]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2A789A3-3991-A634-A70C-7D2A8BAE7435}"/>
              </a:ext>
            </a:extLst>
          </p:cNvPr>
          <p:cNvSpPr txBox="1"/>
          <p:nvPr/>
        </p:nvSpPr>
        <p:spPr>
          <a:xfrm>
            <a:off x="9104602" y="5667815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[8]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7FD593B6-DDAE-699D-1F3F-6A3DD39F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521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0471" y="421047"/>
            <a:ext cx="611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452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Architektur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03D1765-2242-3E89-83A5-E654EE270157}"/>
              </a:ext>
            </a:extLst>
          </p:cNvPr>
          <p:cNvSpPr txBox="1"/>
          <p:nvPr/>
        </p:nvSpPr>
        <p:spPr>
          <a:xfrm>
            <a:off x="1007527" y="4694211"/>
            <a:ext cx="3009743" cy="861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/>
              <a:t>Embeding</a:t>
            </a:r>
            <a:r>
              <a:rPr lang="de-DE" b="1" dirty="0"/>
              <a:t> </a:t>
            </a:r>
            <a:r>
              <a:rPr lang="de-DE" b="1" dirty="0" err="1"/>
              <a:t>size</a:t>
            </a:r>
            <a:r>
              <a:rPr lang="de-DE" dirty="0"/>
              <a:t>:</a:t>
            </a:r>
          </a:p>
          <a:p>
            <a:r>
              <a:rPr lang="de-DE" sz="1600" dirty="0"/>
              <a:t>Vektorlänge der linearen Darstellung eines jeden Patches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5783A20-5495-52B5-5E37-593E8B6E9332}"/>
              </a:ext>
            </a:extLst>
          </p:cNvPr>
          <p:cNvSpPr txBox="1"/>
          <p:nvPr/>
        </p:nvSpPr>
        <p:spPr>
          <a:xfrm>
            <a:off x="7580376" y="1384643"/>
            <a:ext cx="3241595" cy="615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/>
              <a:t>Number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layers</a:t>
            </a:r>
            <a:r>
              <a:rPr lang="de-DE" dirty="0"/>
              <a:t>:</a:t>
            </a:r>
          </a:p>
          <a:p>
            <a:r>
              <a:rPr lang="de-DE" sz="1600" dirty="0"/>
              <a:t>Anzahl Transformer Encoder Blocks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AA589C7-7455-777F-8E67-E14E178EC4F8}"/>
              </a:ext>
            </a:extLst>
          </p:cNvPr>
          <p:cNvSpPr txBox="1"/>
          <p:nvPr/>
        </p:nvSpPr>
        <p:spPr>
          <a:xfrm>
            <a:off x="3602848" y="975260"/>
            <a:ext cx="2015527" cy="1354217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/>
              <a:t>Number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heads</a:t>
            </a:r>
            <a:r>
              <a:rPr lang="de-DE" dirty="0"/>
              <a:t>:</a:t>
            </a:r>
          </a:p>
          <a:p>
            <a:pPr algn="ctr"/>
            <a:r>
              <a:rPr lang="de-DE" sz="1600" dirty="0"/>
              <a:t>Anzahl paralleler Attention Heads im </a:t>
            </a:r>
            <a:r>
              <a:rPr lang="de-DE" sz="1600" dirty="0" err="1"/>
              <a:t>MultiHeadAttention</a:t>
            </a:r>
            <a:r>
              <a:rPr lang="de-DE" sz="1600" dirty="0"/>
              <a:t> Layer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4971A5D-3B61-95FC-B3DA-562D20CAB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440356"/>
            <a:ext cx="10990732" cy="197728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480CA6AE-E952-E470-91A3-4D3992CBB38D}"/>
              </a:ext>
            </a:extLst>
          </p:cNvPr>
          <p:cNvSpPr txBox="1"/>
          <p:nvPr/>
        </p:nvSpPr>
        <p:spPr>
          <a:xfrm>
            <a:off x="4806050" y="4755766"/>
            <a:ext cx="4055200" cy="16004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/>
              <a:t>Feedforward</a:t>
            </a:r>
            <a:r>
              <a:rPr lang="de-DE" b="1" dirty="0"/>
              <a:t> </a:t>
            </a:r>
            <a:r>
              <a:rPr lang="de-DE" b="1" dirty="0" err="1"/>
              <a:t>size</a:t>
            </a:r>
            <a:r>
              <a:rPr lang="de-DE" dirty="0"/>
              <a:t>:</a:t>
            </a:r>
          </a:p>
          <a:p>
            <a:r>
              <a:rPr lang="de-DE" sz="1600" dirty="0"/>
              <a:t>Anzahl Neuronen im FF-Block:</a:t>
            </a:r>
          </a:p>
          <a:p>
            <a:pPr marL="342900" indent="-342900">
              <a:buAutoNum type="arabicPeriod"/>
            </a:pPr>
            <a:r>
              <a:rPr lang="de-DE" sz="1600" dirty="0" err="1"/>
              <a:t>Emb_size</a:t>
            </a:r>
            <a:r>
              <a:rPr lang="de-DE" sz="1600" dirty="0"/>
              <a:t> -&gt; </a:t>
            </a:r>
            <a:r>
              <a:rPr lang="de-DE" sz="1600" dirty="0" err="1"/>
              <a:t>FF_size</a:t>
            </a:r>
            <a:endParaRPr lang="de-DE" sz="1600" dirty="0"/>
          </a:p>
          <a:p>
            <a:pPr marL="342900" indent="-342900">
              <a:buAutoNum type="arabicPeriod"/>
            </a:pPr>
            <a:r>
              <a:rPr lang="de-DE" sz="1600" dirty="0"/>
              <a:t>Nichtlineare Aktivierungsfunktion (GELU)</a:t>
            </a:r>
          </a:p>
          <a:p>
            <a:pPr marL="342900" indent="-342900">
              <a:buAutoNum type="arabicPeriod"/>
            </a:pPr>
            <a:r>
              <a:rPr lang="de-DE" sz="1600" dirty="0" err="1"/>
              <a:t>FF_size</a:t>
            </a:r>
            <a:r>
              <a:rPr lang="de-DE" sz="1600" dirty="0"/>
              <a:t> -&gt; </a:t>
            </a:r>
            <a:r>
              <a:rPr lang="de-DE" sz="1600" dirty="0" err="1"/>
              <a:t>Emb_size</a:t>
            </a:r>
            <a:endParaRPr lang="de-DE" sz="1600" dirty="0"/>
          </a:p>
          <a:p>
            <a:pPr marL="342900" indent="-342900">
              <a:buAutoNum type="arabicPeriod"/>
            </a:pPr>
            <a:r>
              <a:rPr lang="de-DE" sz="1600" dirty="0"/>
              <a:t>Dropout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C984B7A-E27D-C46E-5134-55F6BA6EF0AD}"/>
              </a:ext>
            </a:extLst>
          </p:cNvPr>
          <p:cNvSpPr txBox="1"/>
          <p:nvPr/>
        </p:nvSpPr>
        <p:spPr>
          <a:xfrm>
            <a:off x="9650029" y="4826760"/>
            <a:ext cx="2037145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b="1" dirty="0"/>
              <a:t>Dropout rate</a:t>
            </a:r>
            <a:r>
              <a:rPr lang="de-DE" dirty="0"/>
              <a:t>:</a:t>
            </a:r>
          </a:p>
          <a:p>
            <a:r>
              <a:rPr lang="de-DE" sz="1600" dirty="0"/>
              <a:t>Anzahl der Neuronen die zufällig auf 0 gesetzt werden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E9FBCF-3CA4-24F0-1C12-63FDDF04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333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83643" y="425339"/>
            <a:ext cx="611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4785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</a:t>
            </a:r>
            <a:r>
              <a:rPr lang="de-DE" dirty="0" err="1">
                <a:solidFill>
                  <a:srgbClr val="0070C0"/>
                </a:solidFill>
              </a:rPr>
              <a:t>Preprocessing</a:t>
            </a:r>
            <a:endParaRPr lang="de-DE" dirty="0">
              <a:solidFill>
                <a:srgbClr val="0070C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054D3F3-FCFC-327A-A304-7E5D04F20D08}"/>
              </a:ext>
            </a:extLst>
          </p:cNvPr>
          <p:cNvSpPr txBox="1"/>
          <p:nvPr/>
        </p:nvSpPr>
        <p:spPr>
          <a:xfrm>
            <a:off x="7329043" y="3889546"/>
            <a:ext cx="20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7D73888-0E06-1BD1-AEE2-89E3FC12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601" y="4946038"/>
            <a:ext cx="7110548" cy="149671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A79816F7-120A-C748-6794-E9CA8F66F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445" y="3060781"/>
            <a:ext cx="4507690" cy="1466270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D2BBF014-188E-6455-E47E-D695FE7E1663}"/>
              </a:ext>
            </a:extLst>
          </p:cNvPr>
          <p:cNvSpPr txBox="1"/>
          <p:nvPr/>
        </p:nvSpPr>
        <p:spPr>
          <a:xfrm>
            <a:off x="4702935" y="1627644"/>
            <a:ext cx="449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CIFAR-10</a:t>
            </a:r>
            <a:r>
              <a:rPr lang="de-DE" dirty="0"/>
              <a:t> und </a:t>
            </a:r>
            <a:r>
              <a:rPr lang="de-DE" b="1" dirty="0"/>
              <a:t>CIFAR-100</a:t>
            </a:r>
            <a:r>
              <a:rPr lang="de-DE" dirty="0"/>
              <a:t> downloaden und einlesen (</a:t>
            </a:r>
            <a:r>
              <a:rPr lang="de-DE" dirty="0" err="1"/>
              <a:t>TorchVision</a:t>
            </a:r>
            <a:r>
              <a:rPr lang="de-DE" dirty="0"/>
              <a:t>)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6E83A1F8-0963-67A7-2124-AC2AB09A94C7}"/>
              </a:ext>
            </a:extLst>
          </p:cNvPr>
          <p:cNvSpPr txBox="1"/>
          <p:nvPr/>
        </p:nvSpPr>
        <p:spPr>
          <a:xfrm>
            <a:off x="1589560" y="3332251"/>
            <a:ext cx="4680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Preprocessing</a:t>
            </a:r>
            <a:r>
              <a:rPr lang="de-DE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Transformieren und normieren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Mini Batches bilden (Batch Size als HP)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4A86BB4A-4C49-72B9-420E-D9FB24613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348" y="1111464"/>
            <a:ext cx="2227218" cy="167868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BB8DBD2-C27C-DC1E-B17C-B9CBA0502465}"/>
              </a:ext>
            </a:extLst>
          </p:cNvPr>
          <p:cNvSpPr txBox="1"/>
          <p:nvPr/>
        </p:nvSpPr>
        <p:spPr>
          <a:xfrm>
            <a:off x="2163176" y="2751552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[3]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C6C5CC-A3CA-151C-4818-797F54C5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97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0471" y="414534"/>
            <a:ext cx="611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4337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Optimizer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584BD4E-4C29-F625-ED41-53F007CC4D1B}"/>
              </a:ext>
            </a:extLst>
          </p:cNvPr>
          <p:cNvSpPr txBox="1"/>
          <p:nvPr/>
        </p:nvSpPr>
        <p:spPr>
          <a:xfrm>
            <a:off x="1436189" y="1161439"/>
            <a:ext cx="446218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Optimizer:</a:t>
            </a:r>
          </a:p>
          <a:p>
            <a:r>
              <a:rPr lang="de-DE" dirty="0"/>
              <a:t>Adam (Adaptive Moment </a:t>
            </a:r>
            <a:r>
              <a:rPr lang="de-DE" dirty="0" err="1"/>
              <a:t>Optimization</a:t>
            </a:r>
            <a:r>
              <a:rPr lang="de-DE" dirty="0"/>
              <a:t>) [9]</a:t>
            </a:r>
          </a:p>
          <a:p>
            <a:r>
              <a:rPr lang="de-DE" dirty="0"/>
              <a:t>Bzw. </a:t>
            </a:r>
            <a:r>
              <a:rPr lang="de-DE" dirty="0" err="1"/>
              <a:t>AdamW</a:t>
            </a:r>
            <a:r>
              <a:rPr lang="de-DE" dirty="0"/>
              <a:t> (Adam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weight</a:t>
            </a:r>
            <a:r>
              <a:rPr lang="de-DE" dirty="0"/>
              <a:t> </a:t>
            </a:r>
            <a:r>
              <a:rPr lang="de-DE" dirty="0" err="1"/>
              <a:t>decay</a:t>
            </a:r>
            <a:r>
              <a:rPr lang="de-DE" dirty="0"/>
              <a:t>) [10] </a:t>
            </a:r>
          </a:p>
          <a:p>
            <a:pPr marL="285750" indent="-285750">
              <a:buFontTx/>
              <a:buChar char="-"/>
            </a:pPr>
            <a:r>
              <a:rPr lang="de-DE" b="1" dirty="0"/>
              <a:t>Learning rate</a:t>
            </a:r>
            <a:r>
              <a:rPr lang="de-DE" dirty="0"/>
              <a:t>: Größe der „Lernschritte“</a:t>
            </a:r>
          </a:p>
          <a:p>
            <a:pPr marL="285750" indent="-285750">
              <a:buFontTx/>
              <a:buChar char="-"/>
            </a:pPr>
            <a:r>
              <a:rPr lang="de-DE" b="1" dirty="0" err="1"/>
              <a:t>Weight</a:t>
            </a:r>
            <a:r>
              <a:rPr lang="de-DE" b="1" dirty="0"/>
              <a:t> </a:t>
            </a:r>
            <a:r>
              <a:rPr lang="de-DE" b="1" dirty="0" err="1"/>
              <a:t>decay</a:t>
            </a:r>
            <a:r>
              <a:rPr lang="de-DE" dirty="0"/>
              <a:t>: L2 Regularisierung </a:t>
            </a:r>
          </a:p>
          <a:p>
            <a:pPr marL="285750" indent="-285750">
              <a:buFontTx/>
              <a:buChar char="-"/>
            </a:pPr>
            <a:r>
              <a:rPr lang="de-DE" b="1" dirty="0"/>
              <a:t>Batch </a:t>
            </a:r>
            <a:r>
              <a:rPr lang="de-DE" b="1" dirty="0" err="1"/>
              <a:t>size</a:t>
            </a:r>
            <a:r>
              <a:rPr lang="de-DE" dirty="0"/>
              <a:t>: Minibatch Größe</a:t>
            </a:r>
          </a:p>
          <a:p>
            <a:pPr marL="285750" indent="-285750">
              <a:buFontTx/>
              <a:buChar char="-"/>
            </a:pPr>
            <a:r>
              <a:rPr lang="de-DE" dirty="0"/>
              <a:t>Beta (0,9 / 0.999) und Epsilon (1e-8) fix</a:t>
            </a:r>
          </a:p>
          <a:p>
            <a:endParaRPr lang="de-DE" dirty="0"/>
          </a:p>
          <a:p>
            <a:r>
              <a:rPr lang="de-DE" b="1" dirty="0"/>
              <a:t>Learning rate </a:t>
            </a:r>
            <a:r>
              <a:rPr lang="de-DE" b="1" dirty="0" err="1"/>
              <a:t>Schedular</a:t>
            </a:r>
            <a:r>
              <a:rPr lang="de-DE" b="1" dirty="0"/>
              <a:t>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2216ED0-DCBC-72B7-915D-CFEBC802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409" y="1015459"/>
            <a:ext cx="2703204" cy="267149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2A11EC1-C255-4159-B104-C3E51BB94C42}"/>
              </a:ext>
            </a:extLst>
          </p:cNvPr>
          <p:cNvSpPr txBox="1"/>
          <p:nvPr/>
        </p:nvSpPr>
        <p:spPr>
          <a:xfrm>
            <a:off x="2661932" y="3889546"/>
            <a:ext cx="2010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CosineAnnealingLR</a:t>
            </a:r>
            <a:r>
              <a:rPr lang="de-DE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7B01C79-63FB-4BEC-8B40-F38CD3149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197" y="4262834"/>
            <a:ext cx="4139228" cy="214468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CF84753-21EC-0D11-F34C-420317DE6000}"/>
              </a:ext>
            </a:extLst>
          </p:cNvPr>
          <p:cNvSpPr txBox="1"/>
          <p:nvPr/>
        </p:nvSpPr>
        <p:spPr>
          <a:xfrm>
            <a:off x="6623595" y="3646717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[9]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7E7A22F-1AA4-99C8-315A-C07DF940D9AB}"/>
              </a:ext>
            </a:extLst>
          </p:cNvPr>
          <p:cNvSpPr txBox="1"/>
          <p:nvPr/>
        </p:nvSpPr>
        <p:spPr>
          <a:xfrm>
            <a:off x="2031655" y="6177221"/>
            <a:ext cx="498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[11]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054D3F3-FCFC-327A-A304-7E5D04F20D08}"/>
              </a:ext>
            </a:extLst>
          </p:cNvPr>
          <p:cNvSpPr txBox="1"/>
          <p:nvPr/>
        </p:nvSpPr>
        <p:spPr>
          <a:xfrm>
            <a:off x="7329043" y="3889546"/>
            <a:ext cx="20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08B4589-9755-3725-38AB-98E83641E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878" y="4337524"/>
            <a:ext cx="4139228" cy="1995303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F17E2845-3FD3-B7C9-46A1-8013424A3000}"/>
              </a:ext>
            </a:extLst>
          </p:cNvPr>
          <p:cNvSpPr txBox="1"/>
          <p:nvPr/>
        </p:nvSpPr>
        <p:spPr>
          <a:xfrm>
            <a:off x="7846353" y="3921760"/>
            <a:ext cx="2342519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LinearLR</a:t>
            </a:r>
            <a:r>
              <a:rPr lang="de-DE" b="1" dirty="0"/>
              <a:t> </a:t>
            </a:r>
            <a:r>
              <a:rPr lang="de-DE" b="1" dirty="0" err="1"/>
              <a:t>with</a:t>
            </a:r>
            <a:r>
              <a:rPr lang="de-DE" b="1" dirty="0"/>
              <a:t> </a:t>
            </a:r>
            <a:r>
              <a:rPr lang="de-DE" b="1" dirty="0" err="1"/>
              <a:t>warmup</a:t>
            </a:r>
            <a:r>
              <a:rPr lang="de-DE" dirty="0"/>
              <a:t>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CFBFC5A-FA8F-35D3-1E13-18F23E9115E9}"/>
              </a:ext>
            </a:extLst>
          </p:cNvPr>
          <p:cNvSpPr txBox="1"/>
          <p:nvPr/>
        </p:nvSpPr>
        <p:spPr>
          <a:xfrm>
            <a:off x="7329043" y="6225369"/>
            <a:ext cx="502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[12]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08BB2E2-5B27-F3B6-62E0-8D416387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031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0471" y="416994"/>
            <a:ext cx="611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489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Kostenfunktion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584BD4E-4C29-F625-ED41-53F007CC4D1B}"/>
              </a:ext>
            </a:extLst>
          </p:cNvPr>
          <p:cNvSpPr txBox="1"/>
          <p:nvPr/>
        </p:nvSpPr>
        <p:spPr>
          <a:xfrm>
            <a:off x="1393480" y="1063477"/>
            <a:ext cx="69303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Kostenfunktion: </a:t>
            </a:r>
            <a:r>
              <a:rPr lang="de-DE" b="1" dirty="0" err="1"/>
              <a:t>CrossEntropyLoss</a:t>
            </a:r>
            <a:endParaRPr lang="de-DE" b="1" dirty="0"/>
          </a:p>
          <a:p>
            <a:pPr marL="285750" indent="-285750">
              <a:buFontTx/>
              <a:buChar char="-"/>
            </a:pPr>
            <a:r>
              <a:rPr lang="de-DE" sz="1600" dirty="0"/>
              <a:t>Input: Vorhersage des Modells als Wahrscheinlichkeitsverteilung (</a:t>
            </a:r>
            <a:r>
              <a:rPr lang="de-DE" sz="1600" dirty="0" err="1"/>
              <a:t>Softmax</a:t>
            </a:r>
            <a:r>
              <a:rPr lang="de-DE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sz="1600" dirty="0"/>
              <a:t>Output: Fehlerwert</a:t>
            </a:r>
          </a:p>
          <a:p>
            <a:pPr marL="285750" indent="-285750">
              <a:buFontTx/>
              <a:buChar char="-"/>
            </a:pPr>
            <a:r>
              <a:rPr lang="de-DE" sz="1600" dirty="0"/>
              <a:t>Ziel: Minimieren des Fehlers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054D3F3-FCFC-327A-A304-7E5D04F20D08}"/>
              </a:ext>
            </a:extLst>
          </p:cNvPr>
          <p:cNvSpPr txBox="1"/>
          <p:nvPr/>
        </p:nvSpPr>
        <p:spPr>
          <a:xfrm>
            <a:off x="7329043" y="3889546"/>
            <a:ext cx="2048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77AEDE0-1A69-6064-08F4-2CF5CD360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043" y="1884237"/>
            <a:ext cx="4459796" cy="297065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858257D-C641-330E-E541-0E6824463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1" y="2299579"/>
            <a:ext cx="6202984" cy="1974470"/>
          </a:xfrm>
          <a:prstGeom prst="rect">
            <a:avLst/>
          </a:prstGeom>
        </p:spPr>
      </p:pic>
      <p:sp>
        <p:nvSpPr>
          <p:cNvPr id="20" name="Pfeil: nach unten 19">
            <a:extLst>
              <a:ext uri="{FF2B5EF4-FFF2-40B4-BE49-F238E27FC236}">
                <a16:creationId xmlns:a16="http://schemas.microsoft.com/office/drawing/2014/main" id="{4F990BD9-1B3B-4BBF-7674-7A271B680C2A}"/>
              </a:ext>
            </a:extLst>
          </p:cNvPr>
          <p:cNvSpPr/>
          <p:nvPr/>
        </p:nvSpPr>
        <p:spPr>
          <a:xfrm>
            <a:off x="5747208" y="4464781"/>
            <a:ext cx="493336" cy="8866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505DA28-2CBE-A583-8C09-253CF22EB925}"/>
              </a:ext>
            </a:extLst>
          </p:cNvPr>
          <p:cNvSpPr txBox="1"/>
          <p:nvPr/>
        </p:nvSpPr>
        <p:spPr>
          <a:xfrm>
            <a:off x="1178351" y="5425191"/>
            <a:ext cx="10508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Loss für unsichere korrekte Vorhersage &gt; Loss für zuversichtliche korrekte Vorhersage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FB0DBD8-D5E0-445C-2245-9B87DC075251}"/>
              </a:ext>
            </a:extLst>
          </p:cNvPr>
          <p:cNvSpPr txBox="1"/>
          <p:nvPr/>
        </p:nvSpPr>
        <p:spPr>
          <a:xfrm>
            <a:off x="2164639" y="5794523"/>
            <a:ext cx="8536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Loss für zuversichtliche falsche Vorhersage &gt;&gt; Loss für unsichere falsche Vorhersage</a:t>
            </a:r>
          </a:p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77A87BA-BB36-9E38-03AE-6E5B6479637F}"/>
              </a:ext>
            </a:extLst>
          </p:cNvPr>
          <p:cNvSpPr txBox="1"/>
          <p:nvPr/>
        </p:nvSpPr>
        <p:spPr>
          <a:xfrm>
            <a:off x="1257301" y="4347777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[13]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C8E8E34-C039-709D-58BF-11A7BCF52AE3}"/>
              </a:ext>
            </a:extLst>
          </p:cNvPr>
          <p:cNvSpPr txBox="1"/>
          <p:nvPr/>
        </p:nvSpPr>
        <p:spPr>
          <a:xfrm>
            <a:off x="7934326" y="4633861"/>
            <a:ext cx="500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[13]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997390-AA62-FD6B-B43F-36020E7E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12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1587" y="425339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6600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CIFAR-10 Hyperparametertuning </a:t>
            </a:r>
          </a:p>
        </p:txBody>
      </p:sp>
      <p:pic>
        <p:nvPicPr>
          <p:cNvPr id="8" name="Grafik 7" descr="Ein Bild, das Text, Reihe, Diagramm, parallel enthält.&#10;&#10;Automatisch generierte Beschreibung">
            <a:extLst>
              <a:ext uri="{FF2B5EF4-FFF2-40B4-BE49-F238E27FC236}">
                <a16:creationId xmlns:a16="http://schemas.microsoft.com/office/drawing/2014/main" id="{61BC19CF-DE51-E181-8209-CD94B6E86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803" y="2020825"/>
            <a:ext cx="9777491" cy="483717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EA82D2A-ABE5-5406-63E7-9ADFA0BBD0FB}"/>
              </a:ext>
            </a:extLst>
          </p:cNvPr>
          <p:cNvSpPr txBox="1"/>
          <p:nvPr/>
        </p:nvSpPr>
        <p:spPr>
          <a:xfrm>
            <a:off x="1350803" y="1107666"/>
            <a:ext cx="780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 err="1"/>
              <a:t>Optuna</a:t>
            </a:r>
            <a:r>
              <a:rPr lang="de-DE" dirty="0"/>
              <a:t> Studie mit 100 Durchgängen je 10 Epochen</a:t>
            </a:r>
          </a:p>
          <a:p>
            <a:pPr marL="285750" indent="-285750">
              <a:buFontTx/>
              <a:buChar char="-"/>
            </a:pPr>
            <a:r>
              <a:rPr lang="de-DE" dirty="0"/>
              <a:t>Vorselektion auf einem großen Gebiet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2948775-8483-78DB-C374-A0B86323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2504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1587" y="425339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6600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CIFAR-10 Hyperparametertuning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EA82D2A-ABE5-5406-63E7-9ADFA0BBD0FB}"/>
              </a:ext>
            </a:extLst>
          </p:cNvPr>
          <p:cNvSpPr txBox="1"/>
          <p:nvPr/>
        </p:nvSpPr>
        <p:spPr>
          <a:xfrm>
            <a:off x="1463039" y="1054424"/>
            <a:ext cx="7643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 err="1"/>
              <a:t>Optuna</a:t>
            </a:r>
            <a:r>
              <a:rPr lang="de-DE" dirty="0"/>
              <a:t> Studie mit 25 Durchgängen je 30 Epochen</a:t>
            </a:r>
          </a:p>
          <a:p>
            <a:pPr marL="285750" indent="-285750">
              <a:buFontTx/>
              <a:buChar char="-"/>
            </a:pPr>
            <a:r>
              <a:rPr lang="de-DE" dirty="0"/>
              <a:t>Feines Hyperparametertuning auf vorselektiertem Bereich</a:t>
            </a:r>
          </a:p>
        </p:txBody>
      </p:sp>
      <p:pic>
        <p:nvPicPr>
          <p:cNvPr id="4" name="Grafik 3" descr="Ein Bild, das Text, Reihe, Diagramm, parallel enthält.&#10;&#10;Automatisch generierte Beschreibung">
            <a:extLst>
              <a:ext uri="{FF2B5EF4-FFF2-40B4-BE49-F238E27FC236}">
                <a16:creationId xmlns:a16="http://schemas.microsoft.com/office/drawing/2014/main" id="{639C97D5-9777-513B-1F6D-A09DDA96A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0" y="1921912"/>
            <a:ext cx="9977423" cy="4936088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3B6E10-3210-DB2A-34B9-0CE7EABB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353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1587" y="425339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5112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CIFAR-10 Training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3EB344A-A09B-079A-E6DF-530D2B78FB13}"/>
              </a:ext>
            </a:extLst>
          </p:cNvPr>
          <p:cNvSpPr txBox="1"/>
          <p:nvPr/>
        </p:nvSpPr>
        <p:spPr>
          <a:xfrm>
            <a:off x="1101853" y="1196417"/>
            <a:ext cx="74105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Modelle für die Top 5 Hyperparameter Kombinationen über 100 Epochen trainiert:</a:t>
            </a:r>
          </a:p>
          <a:p>
            <a:r>
              <a:rPr lang="de-DE" dirty="0"/>
              <a:t> </a:t>
            </a:r>
          </a:p>
          <a:p>
            <a:pPr marL="285750" indent="-285750">
              <a:buFontTx/>
              <a:buChar char="-"/>
            </a:pPr>
            <a:r>
              <a:rPr lang="de-DE" dirty="0"/>
              <a:t>Set1: 83,05%</a:t>
            </a:r>
          </a:p>
          <a:p>
            <a:pPr marL="285750" indent="-285750">
              <a:buFontTx/>
              <a:buChar char="-"/>
            </a:pPr>
            <a:r>
              <a:rPr lang="de-DE" b="1" dirty="0"/>
              <a:t>Set2: 83,93%</a:t>
            </a:r>
          </a:p>
          <a:p>
            <a:pPr marL="285750" indent="-285750">
              <a:buFontTx/>
              <a:buChar char="-"/>
            </a:pPr>
            <a:r>
              <a:rPr lang="de-DE" dirty="0"/>
              <a:t>Set3: 83,37%</a:t>
            </a:r>
          </a:p>
          <a:p>
            <a:pPr marL="285750" indent="-285750">
              <a:buFontTx/>
              <a:buChar char="-"/>
            </a:pPr>
            <a:r>
              <a:rPr lang="de-DE" dirty="0"/>
              <a:t>Set4: 83,47%</a:t>
            </a:r>
          </a:p>
          <a:p>
            <a:pPr marL="285750" indent="-285750">
              <a:buFontTx/>
              <a:buChar char="-"/>
            </a:pPr>
            <a:r>
              <a:rPr lang="de-DE" dirty="0"/>
              <a:t>Set5: 82,89%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8" name="Grafik 7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33B7EE2E-D799-1C39-6B3B-2EFF065FB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411" y="1780038"/>
            <a:ext cx="9243748" cy="474087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DE4099-1965-194D-7976-2C75E860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1813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7705" y="425339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6464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CIFAR-10 Ensemble Vorhersage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3EB344A-A09B-079A-E6DF-530D2B78FB13}"/>
              </a:ext>
            </a:extLst>
          </p:cNvPr>
          <p:cNvSpPr txBox="1"/>
          <p:nvPr/>
        </p:nvSpPr>
        <p:spPr>
          <a:xfrm>
            <a:off x="1393480" y="1251234"/>
            <a:ext cx="76751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“Ensemble learning combines several individual models to obtain better generalization performance. […] Deep ensemble learning models combine the advantages of both the deep learning models as well as the ensemble learning such that the final model has better generalization performance.” [14]</a:t>
            </a:r>
            <a:endParaRPr lang="de-DE" sz="1600" i="1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5662673B-609A-B50B-1CD1-7DD47E633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9064" y="3041331"/>
            <a:ext cx="8325691" cy="1618471"/>
          </a:xfrm>
          <a:prstGeom prst="rect">
            <a:avLst/>
          </a:prstGeom>
        </p:spPr>
      </p:pic>
      <p:pic>
        <p:nvPicPr>
          <p:cNvPr id="16" name="Grafik 15" descr="Ein Bild, das Farbigkeit, Screenshot, Grafiken, Grafikdesign enthält.&#10;&#10;Automatisch generierte Beschreibung">
            <a:extLst>
              <a:ext uri="{FF2B5EF4-FFF2-40B4-BE49-F238E27FC236}">
                <a16:creationId xmlns:a16="http://schemas.microsoft.com/office/drawing/2014/main" id="{40031B9F-0DA6-23B0-D3FB-2F2A9B990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2" y="3041331"/>
            <a:ext cx="1589594" cy="1630775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FC4D09FF-96FB-217B-77D1-C86EC98D4707}"/>
              </a:ext>
            </a:extLst>
          </p:cNvPr>
          <p:cNvSpPr txBox="1"/>
          <p:nvPr/>
        </p:nvSpPr>
        <p:spPr>
          <a:xfrm>
            <a:off x="5261067" y="5911290"/>
            <a:ext cx="4242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/>
              <a:t>Ensemble </a:t>
            </a:r>
            <a:r>
              <a:rPr lang="de-DE" sz="2000" b="1" dirty="0" err="1"/>
              <a:t>Accuracy</a:t>
            </a:r>
            <a:r>
              <a:rPr lang="de-DE" sz="2000" b="1" dirty="0"/>
              <a:t> : 85,52%</a:t>
            </a:r>
          </a:p>
        </p:txBody>
      </p:sp>
      <p:sp>
        <p:nvSpPr>
          <p:cNvPr id="18" name="Pfeil: nach unten 17">
            <a:extLst>
              <a:ext uri="{FF2B5EF4-FFF2-40B4-BE49-F238E27FC236}">
                <a16:creationId xmlns:a16="http://schemas.microsoft.com/office/drawing/2014/main" id="{EBF4D345-F2B7-9225-471D-F876F8A9D05C}"/>
              </a:ext>
            </a:extLst>
          </p:cNvPr>
          <p:cNvSpPr/>
          <p:nvPr/>
        </p:nvSpPr>
        <p:spPr>
          <a:xfrm>
            <a:off x="7132288" y="4884907"/>
            <a:ext cx="499621" cy="8012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02CE96F-8AB7-E6AF-51B6-B0A4903B3ACD}"/>
              </a:ext>
            </a:extLst>
          </p:cNvPr>
          <p:cNvSpPr txBox="1"/>
          <p:nvPr/>
        </p:nvSpPr>
        <p:spPr>
          <a:xfrm>
            <a:off x="1853968" y="4659802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[3]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8BC8D4-9476-E083-7222-42454DEB6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167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1587" y="411753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2.3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6677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CIFAR-100 Hyperparametertuning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51E296A-DBA0-B1DD-D520-A678D212CCCD}"/>
              </a:ext>
            </a:extLst>
          </p:cNvPr>
          <p:cNvSpPr txBox="1"/>
          <p:nvPr/>
        </p:nvSpPr>
        <p:spPr>
          <a:xfrm>
            <a:off x="1895476" y="873418"/>
            <a:ext cx="89114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/>
              <a:t>CIFAR-100 [3] : 100 Klassen mit 600 Bildern jeweils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Pretraining</a:t>
            </a:r>
            <a:r>
              <a:rPr lang="de-DE" dirty="0"/>
              <a:t> mit CIFAR-100 -&gt; Finetuning für CIFAR-10</a:t>
            </a:r>
          </a:p>
          <a:p>
            <a:pPr marL="285750" indent="-285750">
              <a:buFontTx/>
              <a:buChar char="-"/>
            </a:pPr>
            <a:r>
              <a:rPr lang="de-DE" dirty="0"/>
              <a:t>Transformer Architektur gemäß CIFAR-10 Tuning (</a:t>
            </a:r>
            <a:r>
              <a:rPr lang="de-DE" dirty="0" err="1"/>
              <a:t>num_layers</a:t>
            </a:r>
            <a:r>
              <a:rPr lang="de-DE" dirty="0"/>
              <a:t>, </a:t>
            </a:r>
            <a:r>
              <a:rPr lang="de-DE" dirty="0" err="1"/>
              <a:t>num_heads</a:t>
            </a:r>
            <a:r>
              <a:rPr lang="de-DE" dirty="0"/>
              <a:t>, </a:t>
            </a:r>
            <a:r>
              <a:rPr lang="de-DE" dirty="0" err="1"/>
              <a:t>emb_size</a:t>
            </a:r>
            <a:r>
              <a:rPr lang="de-DE" dirty="0"/>
              <a:t> …)</a:t>
            </a:r>
          </a:p>
          <a:p>
            <a:pPr marL="285750" indent="-285750">
              <a:buFontTx/>
              <a:buChar char="-"/>
            </a:pPr>
            <a:r>
              <a:rPr lang="de-DE" dirty="0"/>
              <a:t>Analog zu [2] linearer </a:t>
            </a:r>
            <a:r>
              <a:rPr lang="de-DE" dirty="0" err="1"/>
              <a:t>learning</a:t>
            </a:r>
            <a:r>
              <a:rPr lang="de-DE" dirty="0"/>
              <a:t> rate </a:t>
            </a:r>
            <a:r>
              <a:rPr lang="de-DE" dirty="0" err="1"/>
              <a:t>Schedular</a:t>
            </a:r>
            <a:r>
              <a:rPr lang="de-DE" dirty="0"/>
              <a:t> mit </a:t>
            </a:r>
            <a:r>
              <a:rPr lang="de-DE" dirty="0" err="1"/>
              <a:t>warmup</a:t>
            </a:r>
            <a:endParaRPr lang="de-DE" dirty="0"/>
          </a:p>
        </p:txBody>
      </p:sp>
      <p:pic>
        <p:nvPicPr>
          <p:cNvPr id="5" name="Grafik 4" descr="Ein Bild, das Text, Reihe, Diagramm, parallel enthält.&#10;&#10;Automatisch generierte Beschreibung">
            <a:extLst>
              <a:ext uri="{FF2B5EF4-FFF2-40B4-BE49-F238E27FC236}">
                <a16:creationId xmlns:a16="http://schemas.microsoft.com/office/drawing/2014/main" id="{AAB0E33C-2FDF-579E-C14D-A95364EE57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480" y="2229559"/>
            <a:ext cx="9557524" cy="472835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5E6307-B2B0-2220-7596-FA30819AD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8916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1587" y="425339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2.3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524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CIFAR-100 Training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E07FB95-7CC8-129C-FE16-04B100F97BBF}"/>
              </a:ext>
            </a:extLst>
          </p:cNvPr>
          <p:cNvSpPr txBox="1"/>
          <p:nvPr/>
        </p:nvSpPr>
        <p:spPr>
          <a:xfrm>
            <a:off x="893861" y="1109862"/>
            <a:ext cx="36093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Pretraining</a:t>
            </a:r>
            <a:r>
              <a:rPr lang="de-DE" dirty="0"/>
              <a:t> über 100 Epochen mit den 5 besten HP-Sets (CIFAR-100)</a:t>
            </a:r>
          </a:p>
          <a:p>
            <a:pPr marL="285750" indent="-285750">
              <a:buFontTx/>
              <a:buChar char="-"/>
            </a:pPr>
            <a:r>
              <a:rPr lang="de-DE" dirty="0"/>
              <a:t>Set1: 58,53%</a:t>
            </a:r>
          </a:p>
          <a:p>
            <a:pPr marL="285750" indent="-285750">
              <a:buFontTx/>
              <a:buChar char="-"/>
            </a:pPr>
            <a:r>
              <a:rPr lang="de-DE" dirty="0"/>
              <a:t>Set2: 59,09%</a:t>
            </a:r>
          </a:p>
          <a:p>
            <a:pPr marL="285750" indent="-285750">
              <a:buFontTx/>
              <a:buChar char="-"/>
            </a:pPr>
            <a:r>
              <a:rPr lang="de-DE" dirty="0"/>
              <a:t>Set3: 58,9%</a:t>
            </a:r>
          </a:p>
          <a:p>
            <a:pPr marL="285750" indent="-285750">
              <a:buFontTx/>
              <a:buChar char="-"/>
            </a:pPr>
            <a:r>
              <a:rPr lang="de-DE" dirty="0"/>
              <a:t>Set4: 56,06%</a:t>
            </a:r>
          </a:p>
          <a:p>
            <a:pPr marL="285750" indent="-285750">
              <a:buFontTx/>
              <a:buChar char="-"/>
            </a:pPr>
            <a:r>
              <a:rPr lang="de-DE" b="1" dirty="0"/>
              <a:t>Set5: 59,61%</a:t>
            </a:r>
          </a:p>
        </p:txBody>
      </p:sp>
      <p:pic>
        <p:nvPicPr>
          <p:cNvPr id="7" name="Grafik 6" descr="Ein Bild, das Text, Diagramm, Reihe, Screenshot enthält.&#10;&#10;Automatisch generierte Beschreibung">
            <a:extLst>
              <a:ext uri="{FF2B5EF4-FFF2-40B4-BE49-F238E27FC236}">
                <a16:creationId xmlns:a16="http://schemas.microsoft.com/office/drawing/2014/main" id="{108644D1-A471-BD05-5DEA-452840237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657" y="1930252"/>
            <a:ext cx="7508263" cy="3714531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26F30D6-C965-68D3-BCE4-C887FD51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16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B95017-C601-184E-98DF-8FC67F221138}"/>
              </a:ext>
            </a:extLst>
          </p:cNvPr>
          <p:cNvSpPr txBox="1"/>
          <p:nvPr/>
        </p:nvSpPr>
        <p:spPr>
          <a:xfrm>
            <a:off x="893861" y="3275789"/>
            <a:ext cx="36093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HP-Studie auf Basis von Model5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dirty="0"/>
              <a:t>Finetuning über 30 Epochen der 5 besten HP-Sets (CIFAR-10)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FT_Set1: 86,89%</a:t>
            </a:r>
          </a:p>
          <a:p>
            <a:pPr marL="285750" indent="-285750">
              <a:buFontTx/>
              <a:buChar char="-"/>
            </a:pPr>
            <a:r>
              <a:rPr lang="de-DE" dirty="0"/>
              <a:t>FT_Set2: 83,69%</a:t>
            </a:r>
          </a:p>
          <a:p>
            <a:pPr marL="285750" indent="-285750">
              <a:buFontTx/>
              <a:buChar char="-"/>
            </a:pPr>
            <a:r>
              <a:rPr lang="de-DE" dirty="0"/>
              <a:t>FT_Set3: 86,85%</a:t>
            </a:r>
          </a:p>
          <a:p>
            <a:pPr marL="285750" indent="-285750">
              <a:buFontTx/>
              <a:buChar char="-"/>
            </a:pPr>
            <a:r>
              <a:rPr lang="de-DE" b="1" dirty="0"/>
              <a:t>FT_Set4: 86,93%</a:t>
            </a:r>
          </a:p>
          <a:p>
            <a:pPr marL="285750" indent="-285750">
              <a:buFontTx/>
              <a:buChar char="-"/>
            </a:pPr>
            <a:r>
              <a:rPr lang="de-DE" dirty="0"/>
              <a:t>FT_Set5: 86,74%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r>
              <a:rPr lang="de-DE" b="1" dirty="0"/>
              <a:t>Ensemble: 87,93%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809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1587" y="426519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2.4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7279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Vision Transformer </a:t>
            </a:r>
            <a:r>
              <a:rPr lang="de-DE" dirty="0" err="1">
                <a:solidFill>
                  <a:srgbClr val="0070C0"/>
                </a:solidFill>
              </a:rPr>
              <a:t>from</a:t>
            </a:r>
            <a:r>
              <a:rPr lang="de-DE" dirty="0">
                <a:solidFill>
                  <a:srgbClr val="0070C0"/>
                </a:solidFill>
              </a:rPr>
              <a:t> Scratch: Zusammenfassung und Rechenaufwand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9E40733-E5FD-CF45-5D42-C0811B363FED}"/>
              </a:ext>
            </a:extLst>
          </p:cNvPr>
          <p:cNvSpPr txBox="1"/>
          <p:nvPr/>
        </p:nvSpPr>
        <p:spPr>
          <a:xfrm>
            <a:off x="1759286" y="2971552"/>
            <a:ext cx="399083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Ohne </a:t>
            </a:r>
            <a:r>
              <a:rPr lang="de-DE" dirty="0" err="1"/>
              <a:t>Pretraining</a:t>
            </a:r>
            <a:r>
              <a:rPr lang="de-DE" dirty="0"/>
              <a:t>:</a:t>
            </a:r>
          </a:p>
          <a:p>
            <a:r>
              <a:rPr lang="de-DE" dirty="0"/>
              <a:t>1. Großflächige HP-Studie: 11:54h</a:t>
            </a:r>
          </a:p>
          <a:p>
            <a:r>
              <a:rPr lang="de-DE" dirty="0"/>
              <a:t>2. Fortgeschrittene HP-Studie: 18:21h</a:t>
            </a:r>
          </a:p>
          <a:p>
            <a:r>
              <a:rPr lang="de-DE" dirty="0"/>
              <a:t>3. Modeltraining pro Modell: ca. 4:30h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dirty="0"/>
              <a:t>Bis zu </a:t>
            </a:r>
            <a:r>
              <a:rPr lang="de-DE" b="1" dirty="0"/>
              <a:t>83,93% Präzision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b="1" dirty="0"/>
              <a:t>Insgesamt ca. 34:45h</a:t>
            </a:r>
          </a:p>
          <a:p>
            <a:r>
              <a:rPr lang="de-DE" dirty="0"/>
              <a:t>4. Ensemble mit 5 Modellen: 22:30h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b="1" dirty="0"/>
              <a:t>Bis zu 85.52% Präzision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b="1" dirty="0"/>
              <a:t>Insgesamt ca. 52:45h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2A07299-FA9F-CCDC-1D15-2408EE8B74F4}"/>
              </a:ext>
            </a:extLst>
          </p:cNvPr>
          <p:cNvSpPr txBox="1"/>
          <p:nvPr/>
        </p:nvSpPr>
        <p:spPr>
          <a:xfrm>
            <a:off x="6701569" y="2971552"/>
            <a:ext cx="463492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CIFAR-100 </a:t>
            </a:r>
            <a:r>
              <a:rPr lang="de-DE" dirty="0" err="1"/>
              <a:t>Pretraining</a:t>
            </a:r>
            <a:r>
              <a:rPr lang="de-DE" dirty="0"/>
              <a:t>:</a:t>
            </a:r>
          </a:p>
          <a:p>
            <a:r>
              <a:rPr lang="de-DE" dirty="0"/>
              <a:t>1. Großflächige </a:t>
            </a:r>
            <a:r>
              <a:rPr lang="de-DE" dirty="0" err="1"/>
              <a:t>Pretraining</a:t>
            </a:r>
            <a:r>
              <a:rPr lang="de-DE" dirty="0"/>
              <a:t> HP-Studie: 39:27h</a:t>
            </a:r>
          </a:p>
          <a:p>
            <a:r>
              <a:rPr lang="de-DE" dirty="0"/>
              <a:t>2. </a:t>
            </a:r>
            <a:r>
              <a:rPr lang="de-DE" dirty="0" err="1"/>
              <a:t>Pretraining</a:t>
            </a:r>
            <a:r>
              <a:rPr lang="de-DE" dirty="0"/>
              <a:t> 5 Modelle: ca. 22:30h </a:t>
            </a:r>
          </a:p>
          <a:p>
            <a:r>
              <a:rPr lang="de-DE" dirty="0"/>
              <a:t>3. Finetuning HP-Studie: 11:01h</a:t>
            </a:r>
          </a:p>
          <a:p>
            <a:r>
              <a:rPr lang="de-DE" dirty="0"/>
              <a:t>4. Finetuning pro Modell: ca. 1:21h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dirty="0"/>
              <a:t>Bis zu </a:t>
            </a:r>
            <a:r>
              <a:rPr lang="de-DE" b="1" dirty="0"/>
              <a:t>86,93% Präzision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b="1" dirty="0"/>
              <a:t>Insgesamt ca. 74:19h</a:t>
            </a:r>
          </a:p>
          <a:p>
            <a:r>
              <a:rPr lang="de-DE" dirty="0"/>
              <a:t>5. Ensemble mit 5 Modellen: 6:45h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b="1" dirty="0"/>
              <a:t>Bis zu 87.93% Präzision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b="1" dirty="0"/>
              <a:t>Insgesamt ca. 81h</a:t>
            </a:r>
          </a:p>
        </p:txBody>
      </p:sp>
      <p:pic>
        <p:nvPicPr>
          <p:cNvPr id="9" name="Grafik 8" descr="Ein Bild, das Text, Elektronik enthält.&#10;&#10;Automatisch generierte Beschreibung">
            <a:extLst>
              <a:ext uri="{FF2B5EF4-FFF2-40B4-BE49-F238E27FC236}">
                <a16:creationId xmlns:a16="http://schemas.microsoft.com/office/drawing/2014/main" id="{0EC83868-B49C-5CDD-1F76-B387E9B2D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606" y="975260"/>
            <a:ext cx="1511422" cy="151142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E7D3F7C-7110-4C6D-C59D-6BE70CF2586F}"/>
              </a:ext>
            </a:extLst>
          </p:cNvPr>
          <p:cNvSpPr txBox="1"/>
          <p:nvPr/>
        </p:nvSpPr>
        <p:spPr>
          <a:xfrm>
            <a:off x="3041722" y="1301125"/>
            <a:ext cx="29415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GPU: RTX 3080 Ti:</a:t>
            </a:r>
          </a:p>
          <a:p>
            <a:pPr marL="285750" indent="-285750">
              <a:buFontTx/>
              <a:buChar char="-"/>
            </a:pPr>
            <a:r>
              <a:rPr lang="de-DE" sz="1600" dirty="0"/>
              <a:t>12GB GDDR6X </a:t>
            </a:r>
          </a:p>
          <a:p>
            <a:pPr marL="285750" indent="-285750">
              <a:buFontTx/>
              <a:buChar char="-"/>
            </a:pPr>
            <a:r>
              <a:rPr lang="de-DE" sz="1600" dirty="0"/>
              <a:t>320 Tensor Cores (3. Gen)</a:t>
            </a:r>
          </a:p>
          <a:p>
            <a:pPr marL="285750" indent="-285750">
              <a:buFontTx/>
              <a:buChar char="-"/>
            </a:pPr>
            <a:r>
              <a:rPr lang="de-DE" sz="1600" dirty="0"/>
              <a:t>1710 MHz Core Clock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EF61390-A3DD-4579-9BE4-FCD461EB86C1}"/>
              </a:ext>
            </a:extLst>
          </p:cNvPr>
          <p:cNvSpPr txBox="1"/>
          <p:nvPr/>
        </p:nvSpPr>
        <p:spPr>
          <a:xfrm>
            <a:off x="6701569" y="2378343"/>
            <a:ext cx="499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[15]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E7727E-B5B1-39AB-CD4B-67C755C4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211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393480" y="41591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3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3065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70C0"/>
                </a:solidFill>
              </a:rPr>
              <a:t>Pretrained</a:t>
            </a:r>
            <a:r>
              <a:rPr lang="de-DE" dirty="0">
                <a:solidFill>
                  <a:srgbClr val="0070C0"/>
                </a:solidFill>
              </a:rPr>
              <a:t> Vision Transformer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297D2C7-AAE9-1974-A1A5-5AE08417DC74}"/>
              </a:ext>
            </a:extLst>
          </p:cNvPr>
          <p:cNvSpPr txBox="1"/>
          <p:nvPr/>
        </p:nvSpPr>
        <p:spPr>
          <a:xfrm>
            <a:off x="1172460" y="1361346"/>
            <a:ext cx="71653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 err="1"/>
              <a:t>Pretraining</a:t>
            </a:r>
            <a:r>
              <a:rPr lang="de-DE" dirty="0"/>
              <a:t> auf umfangreichen Datensätzen gilt als bewährte Methode</a:t>
            </a:r>
          </a:p>
          <a:p>
            <a:pPr marL="285750" indent="-285750">
              <a:buFontTx/>
              <a:buChar char="-"/>
            </a:pPr>
            <a:r>
              <a:rPr lang="de-DE" dirty="0" err="1"/>
              <a:t>ViTs</a:t>
            </a:r>
            <a:r>
              <a:rPr lang="de-DE" dirty="0"/>
              <a:t> glänzen besonders beim </a:t>
            </a:r>
            <a:r>
              <a:rPr lang="de-DE" dirty="0" err="1"/>
              <a:t>Pretraining</a:t>
            </a:r>
            <a:r>
              <a:rPr lang="de-DE" dirty="0"/>
              <a:t> auf großen Datensätzen [2]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Erstmals 2009 vorgestellter Datensatz </a:t>
            </a:r>
            <a:r>
              <a:rPr lang="de-DE" b="1" dirty="0" err="1"/>
              <a:t>ImageNet</a:t>
            </a:r>
            <a:r>
              <a:rPr lang="de-DE" dirty="0"/>
              <a:t> [16]</a:t>
            </a:r>
          </a:p>
          <a:p>
            <a:pPr marL="285750" indent="-285750">
              <a:buFontTx/>
              <a:buChar char="-"/>
            </a:pPr>
            <a:r>
              <a:rPr lang="de-DE" b="1" dirty="0"/>
              <a:t>ImageNet-21k</a:t>
            </a:r>
            <a:r>
              <a:rPr lang="de-DE" dirty="0"/>
              <a:t> mit 14m Bildern und 21843 Klassen [17]</a:t>
            </a:r>
          </a:p>
        </p:txBody>
      </p:sp>
      <p:pic>
        <p:nvPicPr>
          <p:cNvPr id="8" name="Grafik 7" descr="Ein Bild, das Collage, Fotomontage, Mosaik, Kunst enthält.&#10;&#10;Automatisch generierte Beschreibung">
            <a:extLst>
              <a:ext uri="{FF2B5EF4-FFF2-40B4-BE49-F238E27FC236}">
                <a16:creationId xmlns:a16="http://schemas.microsoft.com/office/drawing/2014/main" id="{FB5EC1D1-E4B6-D567-D81B-7AD7229C8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351" y="1481020"/>
            <a:ext cx="2455811" cy="245581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96D9E8D-E611-1DCB-D6C1-A912E75B96B1}"/>
              </a:ext>
            </a:extLst>
          </p:cNvPr>
          <p:cNvSpPr txBox="1"/>
          <p:nvPr/>
        </p:nvSpPr>
        <p:spPr>
          <a:xfrm>
            <a:off x="1172460" y="3290500"/>
            <a:ext cx="7165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b="1" dirty="0"/>
              <a:t>Ansatz:</a:t>
            </a:r>
            <a:r>
              <a:rPr lang="de-DE" dirty="0"/>
              <a:t> Transformer aus [2] in der ImageNet-21k Version über „</a:t>
            </a:r>
            <a:r>
              <a:rPr lang="de-DE" dirty="0" err="1"/>
              <a:t>Hugging</a:t>
            </a:r>
            <a:r>
              <a:rPr lang="de-DE" dirty="0"/>
              <a:t> Face“ [18] importieren</a:t>
            </a:r>
          </a:p>
          <a:p>
            <a:pPr marL="285750" indent="-285750">
              <a:buFontTx/>
              <a:buChar char="-"/>
            </a:pP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EA7D9EB-9D89-92A7-C607-095CFAF8B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655" y="4296589"/>
            <a:ext cx="5525779" cy="1595336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986420F-8D63-5289-BA4C-FA3F00E292A7}"/>
              </a:ext>
            </a:extLst>
          </p:cNvPr>
          <p:cNvSpPr txBox="1"/>
          <p:nvPr/>
        </p:nvSpPr>
        <p:spPr>
          <a:xfrm>
            <a:off x="4544796" y="5891925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[2]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2D5A7AD-1773-03F9-571C-394B7DCA84F9}"/>
              </a:ext>
            </a:extLst>
          </p:cNvPr>
          <p:cNvSpPr txBox="1"/>
          <p:nvPr/>
        </p:nvSpPr>
        <p:spPr>
          <a:xfrm>
            <a:off x="10244179" y="3944224"/>
            <a:ext cx="499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[19]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A0298A6-9D13-FE9C-A947-87545D3AD162}"/>
              </a:ext>
            </a:extLst>
          </p:cNvPr>
          <p:cNvSpPr/>
          <p:nvPr/>
        </p:nvSpPr>
        <p:spPr>
          <a:xfrm>
            <a:off x="2168164" y="4817097"/>
            <a:ext cx="5297865" cy="3989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0DCE3F-A6B5-CA6B-8007-8C0A473A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245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83642" y="425339"/>
            <a:ext cx="611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3.1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4445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70C0"/>
                </a:solidFill>
              </a:rPr>
              <a:t>Pretrained</a:t>
            </a:r>
            <a:r>
              <a:rPr lang="de-DE" dirty="0">
                <a:solidFill>
                  <a:srgbClr val="0070C0"/>
                </a:solidFill>
              </a:rPr>
              <a:t> Vision Transformer: Base Version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D772883-64E6-55AF-9608-4A0284FBAE12}"/>
              </a:ext>
            </a:extLst>
          </p:cNvPr>
          <p:cNvSpPr txBox="1"/>
          <p:nvPr/>
        </p:nvSpPr>
        <p:spPr>
          <a:xfrm>
            <a:off x="6773033" y="1055226"/>
            <a:ext cx="46208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Vorhersagegenauigkeit: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Referenz [2] mit </a:t>
            </a:r>
            <a:r>
              <a:rPr lang="de-DE" dirty="0" err="1"/>
              <a:t>gradient</a:t>
            </a:r>
            <a:r>
              <a:rPr lang="de-DE" dirty="0"/>
              <a:t> </a:t>
            </a:r>
            <a:r>
              <a:rPr lang="de-DE" dirty="0" err="1"/>
              <a:t>clipping</a:t>
            </a:r>
            <a:r>
              <a:rPr lang="de-DE" dirty="0"/>
              <a:t>: 98,95%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Gradient Clipping: 98,92%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Weight</a:t>
            </a:r>
            <a:r>
              <a:rPr lang="de-DE" dirty="0"/>
              <a:t> </a:t>
            </a:r>
            <a:r>
              <a:rPr lang="de-DE" dirty="0" err="1"/>
              <a:t>decay</a:t>
            </a:r>
            <a:r>
              <a:rPr lang="de-DE" dirty="0"/>
              <a:t>: 98,94%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Gradient </a:t>
            </a:r>
            <a:r>
              <a:rPr lang="de-DE" dirty="0" err="1"/>
              <a:t>clipping</a:t>
            </a:r>
            <a:r>
              <a:rPr lang="de-DE" dirty="0"/>
              <a:t> &amp; </a:t>
            </a:r>
            <a:r>
              <a:rPr lang="de-DE" dirty="0" err="1"/>
              <a:t>weight</a:t>
            </a:r>
            <a:r>
              <a:rPr lang="de-DE" dirty="0"/>
              <a:t> </a:t>
            </a:r>
            <a:r>
              <a:rPr lang="de-DE" dirty="0" err="1"/>
              <a:t>decay</a:t>
            </a:r>
            <a:r>
              <a:rPr lang="de-DE" dirty="0"/>
              <a:t>: 98,98%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030A0DF-B424-A32A-A1AD-71C4F9D2876A}"/>
              </a:ext>
            </a:extLst>
          </p:cNvPr>
          <p:cNvSpPr txBox="1"/>
          <p:nvPr/>
        </p:nvSpPr>
        <p:spPr>
          <a:xfrm>
            <a:off x="1825372" y="1055226"/>
            <a:ext cx="53638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Schwierigkeiten: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Optuna</a:t>
            </a:r>
            <a:r>
              <a:rPr lang="de-DE" dirty="0"/>
              <a:t> HP-Studie sehr aufwendig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dirty="0" err="1"/>
              <a:t>Lr</a:t>
            </a:r>
            <a:r>
              <a:rPr lang="de-DE" dirty="0"/>
              <a:t> und </a:t>
            </a:r>
            <a:r>
              <a:rPr lang="de-DE" dirty="0" err="1"/>
              <a:t>wd</a:t>
            </a:r>
            <a:r>
              <a:rPr lang="de-DE" dirty="0"/>
              <a:t> qualifizierte Schätzung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Maximale </a:t>
            </a:r>
            <a:r>
              <a:rPr lang="de-DE" dirty="0" err="1"/>
              <a:t>batch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von 32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dirty="0"/>
              <a:t>Trainingsdauer für ein Modell ca. 9h </a:t>
            </a:r>
          </a:p>
        </p:txBody>
      </p:sp>
      <p:pic>
        <p:nvPicPr>
          <p:cNvPr id="13" name="Grafik 12" descr="Ein Bild, das Text, Screenshot, Diagramm, Reihe enthält.&#10;&#10;Automatisch generierte Beschreibung">
            <a:extLst>
              <a:ext uri="{FF2B5EF4-FFF2-40B4-BE49-F238E27FC236}">
                <a16:creationId xmlns:a16="http://schemas.microsoft.com/office/drawing/2014/main" id="{767BB5D9-D4F3-571B-3503-2E13653AF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058" y="2532554"/>
            <a:ext cx="8693449" cy="4300872"/>
          </a:xfrm>
          <a:prstGeom prst="rect">
            <a:avLst/>
          </a:prstGeom>
        </p:spPr>
      </p:pic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95A825DA-DDB0-9BAA-0D1C-7E2EF531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4442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271587" y="425339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3.2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4501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0070C0"/>
                </a:solidFill>
              </a:rPr>
              <a:t>Pretrained</a:t>
            </a:r>
            <a:r>
              <a:rPr lang="de-DE" dirty="0">
                <a:solidFill>
                  <a:srgbClr val="0070C0"/>
                </a:solidFill>
              </a:rPr>
              <a:t> Vision Transformer: Large Version</a:t>
            </a:r>
          </a:p>
        </p:txBody>
      </p:sp>
      <p:pic>
        <p:nvPicPr>
          <p:cNvPr id="5" name="Grafik 4" descr="Ein Bild, das Text, Diagramm, Reihe, Schrift enthält.&#10;&#10;Automatisch generierte Beschreibung">
            <a:extLst>
              <a:ext uri="{FF2B5EF4-FFF2-40B4-BE49-F238E27FC236}">
                <a16:creationId xmlns:a16="http://schemas.microsoft.com/office/drawing/2014/main" id="{A9462422-76E9-AC7E-06AC-9BBA40E8A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354" y="2234153"/>
            <a:ext cx="9346284" cy="462384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D6C5EF9-CD3B-30F7-0A18-F0C0BDC3AF33}"/>
              </a:ext>
            </a:extLst>
          </p:cNvPr>
          <p:cNvSpPr txBox="1"/>
          <p:nvPr/>
        </p:nvSpPr>
        <p:spPr>
          <a:xfrm>
            <a:off x="2031655" y="1117437"/>
            <a:ext cx="31807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lr</a:t>
            </a:r>
            <a:r>
              <a:rPr lang="de-DE" dirty="0"/>
              <a:t> und </a:t>
            </a:r>
            <a:r>
              <a:rPr lang="de-DE" dirty="0" err="1"/>
              <a:t>wd</a:t>
            </a:r>
            <a:r>
              <a:rPr lang="de-DE" dirty="0"/>
              <a:t> wie zuvor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Maximale </a:t>
            </a:r>
            <a:r>
              <a:rPr lang="de-DE" dirty="0" err="1"/>
              <a:t>batch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von 16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de-DE" dirty="0"/>
              <a:t>Trainingsdauer ca. 22h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ED7E90A-5EDA-A1E8-1DB4-444868BC5521}"/>
              </a:ext>
            </a:extLst>
          </p:cNvPr>
          <p:cNvSpPr txBox="1"/>
          <p:nvPr/>
        </p:nvSpPr>
        <p:spPr>
          <a:xfrm>
            <a:off x="6393496" y="1117437"/>
            <a:ext cx="46800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Vorhersagegenauigkeit: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Referenz [2] mit </a:t>
            </a:r>
            <a:r>
              <a:rPr lang="de-DE" dirty="0" err="1"/>
              <a:t>gradient</a:t>
            </a:r>
            <a:r>
              <a:rPr lang="de-DE" dirty="0"/>
              <a:t> </a:t>
            </a:r>
            <a:r>
              <a:rPr lang="de-DE" dirty="0" err="1"/>
              <a:t>clipping</a:t>
            </a:r>
            <a:r>
              <a:rPr lang="de-DE" dirty="0"/>
              <a:t>: 99,16%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Gradient </a:t>
            </a:r>
            <a:r>
              <a:rPr lang="de-DE" dirty="0" err="1"/>
              <a:t>clipping</a:t>
            </a:r>
            <a:r>
              <a:rPr lang="de-DE" dirty="0"/>
              <a:t> &amp; </a:t>
            </a:r>
            <a:r>
              <a:rPr lang="de-DE" dirty="0" err="1"/>
              <a:t>weight</a:t>
            </a:r>
            <a:r>
              <a:rPr lang="de-DE" dirty="0"/>
              <a:t> </a:t>
            </a:r>
            <a:r>
              <a:rPr lang="de-DE" dirty="0" err="1"/>
              <a:t>decay</a:t>
            </a:r>
            <a:r>
              <a:rPr lang="de-DE" dirty="0"/>
              <a:t>: 99,13%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0DB9017-B0C1-F125-69B5-4E0EC6509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6400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EE031C-E43F-2F5E-98F9-06DF1C2BF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874" y="337085"/>
            <a:ext cx="2386301" cy="859332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96C9D74B-48A2-BAEB-136F-47057CA60588}"/>
              </a:ext>
            </a:extLst>
          </p:cNvPr>
          <p:cNvSpPr/>
          <p:nvPr/>
        </p:nvSpPr>
        <p:spPr>
          <a:xfrm>
            <a:off x="1257301" y="337085"/>
            <a:ext cx="638175" cy="638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8DB5B25-5F38-5860-5EE7-A901A09CBA09}"/>
              </a:ext>
            </a:extLst>
          </p:cNvPr>
          <p:cNvSpPr txBox="1"/>
          <p:nvPr/>
        </p:nvSpPr>
        <p:spPr>
          <a:xfrm>
            <a:off x="1393480" y="41591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4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F70105-4B99-576C-93A7-EDF54AE4420D}"/>
              </a:ext>
            </a:extLst>
          </p:cNvPr>
          <p:cNvSpPr txBox="1"/>
          <p:nvPr/>
        </p:nvSpPr>
        <p:spPr>
          <a:xfrm>
            <a:off x="2031655" y="471506"/>
            <a:ext cx="1934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Fazit und Ausblick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4867BB4-24B3-67E8-2FAD-30F4257F736D}"/>
              </a:ext>
            </a:extLst>
          </p:cNvPr>
          <p:cNvSpPr txBox="1"/>
          <p:nvPr/>
        </p:nvSpPr>
        <p:spPr>
          <a:xfrm>
            <a:off x="1676108" y="1388821"/>
            <a:ext cx="96050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Fazit: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„Kleine“ </a:t>
            </a:r>
            <a:r>
              <a:rPr lang="de-DE" dirty="0" err="1"/>
              <a:t>ViT</a:t>
            </a:r>
            <a:r>
              <a:rPr lang="de-DE" dirty="0"/>
              <a:t> Modelle können auf Gaming Hardware </a:t>
            </a:r>
            <a:r>
              <a:rPr lang="de-DE" dirty="0" err="1"/>
              <a:t>finetuned</a:t>
            </a:r>
            <a:r>
              <a:rPr lang="de-DE" dirty="0"/>
              <a:t> und verwendet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ViTs</a:t>
            </a:r>
            <a:r>
              <a:rPr lang="de-DE" dirty="0"/>
              <a:t> profitieren enorm von einem ausführlichen </a:t>
            </a:r>
            <a:r>
              <a:rPr lang="de-DE" dirty="0" err="1"/>
              <a:t>Pretraining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CIFAR-10 Vorhersagepräzision von über 99% durch vortrainierte Open Source Modelle möglich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AFEE464-C8ED-D8A4-A5E3-6B6347193ABF}"/>
              </a:ext>
            </a:extLst>
          </p:cNvPr>
          <p:cNvSpPr txBox="1"/>
          <p:nvPr/>
        </p:nvSpPr>
        <p:spPr>
          <a:xfrm>
            <a:off x="1676108" y="3137133"/>
            <a:ext cx="97729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Ausblick: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Erweitertes </a:t>
            </a:r>
            <a:r>
              <a:rPr lang="de-DE" dirty="0" err="1"/>
              <a:t>Pretraining</a:t>
            </a:r>
            <a:r>
              <a:rPr lang="de-DE" dirty="0"/>
              <a:t> (</a:t>
            </a:r>
            <a:r>
              <a:rPr lang="de-DE" dirty="0" err="1"/>
              <a:t>zb</a:t>
            </a:r>
            <a:r>
              <a:rPr lang="de-DE" dirty="0"/>
              <a:t>. JFT-300M) und komplexere Architekturen können noch bessere Vorhersagen produzieren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ViT-Huge</a:t>
            </a:r>
            <a:r>
              <a:rPr lang="de-DE" dirty="0"/>
              <a:t> Modell kann so bis zu 99,5% Präzision für den CIFAR-10 Datensatz </a:t>
            </a:r>
            <a:r>
              <a:rPr lang="de-DE" dirty="0" err="1"/>
              <a:t>erziehlen</a:t>
            </a:r>
            <a:r>
              <a:rPr lang="de-DE" dirty="0"/>
              <a:t> [2]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Zusätzliche Techniken können die Performance weiter verbessern: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NimbusRomNo9L-Regu"/>
              </a:rPr>
              <a:t>Hochskalieren der Trainingsbilder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NimbusRomNo9L-Regu"/>
              </a:rPr>
              <a:t>Finale Hyperparameter über </a:t>
            </a:r>
            <a:r>
              <a:rPr lang="de-DE" sz="1800" b="0" i="0" u="none" strike="noStrike" baseline="0" dirty="0" err="1">
                <a:latin typeface="NimbusRomNo9L-Regu"/>
              </a:rPr>
              <a:t>Polyak</a:t>
            </a:r>
            <a:r>
              <a:rPr lang="de-DE" sz="1800" b="0" i="0" u="none" strike="noStrike" baseline="0" dirty="0">
                <a:latin typeface="NimbusRomNo9L-Regu"/>
              </a:rPr>
              <a:t> </a:t>
            </a:r>
            <a:r>
              <a:rPr lang="de-DE" sz="1800" b="0" i="0" u="none" strike="noStrike" baseline="0" dirty="0" err="1">
                <a:latin typeface="NimbusRomNo9L-Regu"/>
              </a:rPr>
              <a:t>averaging</a:t>
            </a:r>
            <a:r>
              <a:rPr lang="de-DE" sz="1800" b="0" i="0" u="none" strike="noStrike" baseline="0" dirty="0">
                <a:latin typeface="NimbusRomNo9L-Regu"/>
              </a:rPr>
              <a:t> [20]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latin typeface="NimbusRomNo9L-Regu"/>
              </a:rPr>
              <a:t>Adaptive </a:t>
            </a:r>
            <a:r>
              <a:rPr lang="de-DE" dirty="0" err="1">
                <a:latin typeface="NimbusRomNo9L-Regu"/>
              </a:rPr>
              <a:t>Emsembling</a:t>
            </a:r>
            <a:r>
              <a:rPr lang="de-DE" dirty="0">
                <a:latin typeface="NimbusRomNo9L-Regu"/>
              </a:rPr>
              <a:t> [21]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14ABFA-FA05-176C-73DC-BDFAB31D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D8BBD-EB95-4AEC-9817-329AFD8E100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75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CB567-D089-9443-86E5-7FEBC2990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2678" y="782033"/>
            <a:ext cx="8361229" cy="771743"/>
          </a:xfrm>
        </p:spPr>
        <p:txBody>
          <a:bodyPr/>
          <a:lstStyle/>
          <a:p>
            <a:r>
              <a:rPr lang="de-DE" sz="2000" i="1" dirty="0" err="1">
                <a:solidFill>
                  <a:schemeClr val="tx1"/>
                </a:solidFill>
              </a:rPr>
              <a:t>QuelleN</a:t>
            </a:r>
            <a:r>
              <a:rPr lang="de-DE" sz="2000" i="1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E55BF85-FFEB-A906-7F19-DB69907CDC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575" y="293300"/>
            <a:ext cx="3500247" cy="1260476"/>
          </a:xfrm>
          <a:prstGeom prst="rect">
            <a:avLst/>
          </a:prstGeom>
        </p:spPr>
      </p:pic>
      <p:sp>
        <p:nvSpPr>
          <p:cNvPr id="5" name="Untertitel 2">
            <a:extLst>
              <a:ext uri="{FF2B5EF4-FFF2-40B4-BE49-F238E27FC236}">
                <a16:creationId xmlns:a16="http://schemas.microsoft.com/office/drawing/2014/main" id="{074390D2-F4CF-C4A7-0DA2-92CFDC9077CC}"/>
              </a:ext>
            </a:extLst>
          </p:cNvPr>
          <p:cNvSpPr txBox="1">
            <a:spLocks/>
          </p:cNvSpPr>
          <p:nvPr/>
        </p:nvSpPr>
        <p:spPr>
          <a:xfrm>
            <a:off x="157519" y="5500214"/>
            <a:ext cx="7291032" cy="771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Autor: Lars Brinkmann</a:t>
            </a:r>
          </a:p>
          <a:p>
            <a:r>
              <a:rPr lang="de-DE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Matrikelnummer: 7106769</a:t>
            </a:r>
          </a:p>
          <a:p>
            <a:endParaRPr lang="de-DE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179979D-E6F9-91DF-49AD-646D60CB614D}"/>
              </a:ext>
            </a:extLst>
          </p:cNvPr>
          <p:cNvSpPr txBox="1"/>
          <p:nvPr/>
        </p:nvSpPr>
        <p:spPr>
          <a:xfrm>
            <a:off x="1297317" y="1553776"/>
            <a:ext cx="9363456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 A. </a:t>
            </a:r>
            <a:r>
              <a:rPr lang="de-DE" sz="1400" dirty="0" err="1"/>
              <a:t>Vaswani</a:t>
            </a:r>
            <a:r>
              <a:rPr lang="de-DE" sz="1400" dirty="0"/>
              <a:t> et al., „Attention </a:t>
            </a:r>
            <a:r>
              <a:rPr lang="de-DE" sz="1400" dirty="0" err="1"/>
              <a:t>is</a:t>
            </a:r>
            <a:r>
              <a:rPr lang="de-DE" sz="1400" dirty="0"/>
              <a:t> ALL </a:t>
            </a:r>
            <a:r>
              <a:rPr lang="de-DE" sz="1400" dirty="0" err="1"/>
              <a:t>you</a:t>
            </a:r>
            <a:r>
              <a:rPr lang="de-DE" sz="1400" dirty="0"/>
              <a:t> Need“, NIPS 2017, arXiv:1706.03762</a:t>
            </a:r>
          </a:p>
          <a:p>
            <a:r>
              <a:rPr lang="de-DE" sz="1400" dirty="0"/>
              <a:t>[2] A. </a:t>
            </a:r>
            <a:r>
              <a:rPr lang="de-DE" sz="1400" dirty="0" err="1"/>
              <a:t>Dosovitskiy</a:t>
            </a:r>
            <a:r>
              <a:rPr lang="de-DE" sz="1400" dirty="0"/>
              <a:t> et al., „An Image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Worth</a:t>
            </a:r>
            <a:r>
              <a:rPr lang="de-DE" sz="1400" dirty="0"/>
              <a:t> 16x16 Words: Transformers </a:t>
            </a:r>
            <a:r>
              <a:rPr lang="de-DE" sz="1400" dirty="0" err="1"/>
              <a:t>for</a:t>
            </a:r>
            <a:r>
              <a:rPr lang="de-DE" sz="1400" dirty="0"/>
              <a:t> Image Recognition at </a:t>
            </a:r>
            <a:r>
              <a:rPr lang="de-DE" sz="1400" dirty="0" err="1"/>
              <a:t>Scale</a:t>
            </a:r>
            <a:r>
              <a:rPr lang="de-DE" sz="1400" dirty="0"/>
              <a:t>, ICLR 2021, arXiv:2010.11929v2</a:t>
            </a:r>
          </a:p>
          <a:p>
            <a:r>
              <a:rPr lang="de-DE" sz="1400" dirty="0"/>
              <a:t>[3] A. </a:t>
            </a:r>
            <a:r>
              <a:rPr lang="de-DE" sz="1400" dirty="0" err="1"/>
              <a:t>Krizhevsky</a:t>
            </a:r>
            <a:r>
              <a:rPr lang="de-DE" sz="1400" dirty="0"/>
              <a:t>, V. Nair, G. </a:t>
            </a:r>
            <a:r>
              <a:rPr lang="de-DE" sz="1400" dirty="0" err="1"/>
              <a:t>Hinton</a:t>
            </a:r>
            <a:r>
              <a:rPr lang="de-DE" sz="1400" dirty="0"/>
              <a:t>, „The CIFAR-10 </a:t>
            </a:r>
            <a:r>
              <a:rPr lang="de-DE" sz="1400" dirty="0" err="1"/>
              <a:t>dataset</a:t>
            </a:r>
            <a:r>
              <a:rPr lang="de-DE" sz="1400" dirty="0"/>
              <a:t>“, </a:t>
            </a:r>
            <a:r>
              <a:rPr lang="de-DE" sz="1400" dirty="0">
                <a:hlinkClick r:id="rId3"/>
              </a:rPr>
              <a:t>https://www.cs.toronto.edu/~kriz/cifar.html</a:t>
            </a:r>
            <a:endParaRPr lang="de-DE" sz="1400" dirty="0"/>
          </a:p>
          <a:p>
            <a:r>
              <a:rPr lang="de-DE" sz="1400" dirty="0"/>
              <a:t>[4] </a:t>
            </a:r>
            <a:r>
              <a:rPr lang="de-DE" sz="1400" dirty="0" err="1"/>
              <a:t>PyTorch</a:t>
            </a:r>
            <a:r>
              <a:rPr lang="de-DE" sz="1400" dirty="0"/>
              <a:t> </a:t>
            </a:r>
            <a:r>
              <a:rPr lang="de-DE" sz="1400" dirty="0" err="1"/>
              <a:t>developer</a:t>
            </a:r>
            <a:r>
              <a:rPr lang="de-DE" sz="1400" dirty="0"/>
              <a:t> </a:t>
            </a:r>
            <a:r>
              <a:rPr lang="de-DE" sz="1400" dirty="0" err="1"/>
              <a:t>community</a:t>
            </a:r>
            <a:r>
              <a:rPr lang="de-DE" sz="1400" dirty="0"/>
              <a:t>, </a:t>
            </a:r>
            <a:r>
              <a:rPr lang="de-DE" sz="1400" dirty="0" err="1"/>
              <a:t>PyTorch</a:t>
            </a:r>
            <a:r>
              <a:rPr lang="de-DE" sz="1400" dirty="0"/>
              <a:t> V. 2.4.0, </a:t>
            </a:r>
            <a:r>
              <a:rPr lang="de-DE" sz="1400" dirty="0">
                <a:hlinkClick r:id="rId4"/>
              </a:rPr>
              <a:t>https://pytorch.org/</a:t>
            </a:r>
            <a:endParaRPr lang="de-DE" sz="1400" dirty="0"/>
          </a:p>
          <a:p>
            <a:r>
              <a:rPr lang="de-DE" sz="1400" dirty="0"/>
              <a:t>[5] </a:t>
            </a:r>
            <a:r>
              <a:rPr lang="de-DE" sz="1400" dirty="0" err="1"/>
              <a:t>NumPy</a:t>
            </a:r>
            <a:r>
              <a:rPr lang="de-DE" sz="1400" dirty="0"/>
              <a:t> </a:t>
            </a:r>
            <a:r>
              <a:rPr lang="de-DE" sz="1400" dirty="0" err="1"/>
              <a:t>team</a:t>
            </a:r>
            <a:r>
              <a:rPr lang="de-DE" sz="1400" dirty="0"/>
              <a:t>, </a:t>
            </a:r>
            <a:r>
              <a:rPr lang="de-DE" sz="1400" dirty="0" err="1"/>
              <a:t>NumPy</a:t>
            </a:r>
            <a:r>
              <a:rPr lang="de-DE" sz="1400" dirty="0"/>
              <a:t> V. 1.2.6.4 , </a:t>
            </a:r>
            <a:r>
              <a:rPr lang="de-DE" sz="1400" dirty="0">
                <a:hlinkClick r:id="rId5"/>
              </a:rPr>
              <a:t>https://numpy.org/</a:t>
            </a:r>
            <a:endParaRPr lang="de-DE" sz="1400" dirty="0"/>
          </a:p>
          <a:p>
            <a:r>
              <a:rPr lang="de-DE" sz="1400" dirty="0"/>
              <a:t>[6] Pandas </a:t>
            </a:r>
            <a:r>
              <a:rPr lang="de-DE" sz="1400" dirty="0" err="1"/>
              <a:t>team</a:t>
            </a:r>
            <a:r>
              <a:rPr lang="de-DE" sz="1400" dirty="0"/>
              <a:t>, </a:t>
            </a:r>
            <a:r>
              <a:rPr lang="de-DE" sz="1400" dirty="0" err="1"/>
              <a:t>NumFOCUS</a:t>
            </a:r>
            <a:r>
              <a:rPr lang="de-DE" sz="1400" dirty="0"/>
              <a:t>, Pandas V. 2.2.2, </a:t>
            </a:r>
            <a:r>
              <a:rPr lang="de-DE" sz="1400" dirty="0">
                <a:hlinkClick r:id="rId6"/>
              </a:rPr>
              <a:t>https://pandas.pydata.org/</a:t>
            </a:r>
            <a:endParaRPr lang="de-DE" sz="1400" dirty="0"/>
          </a:p>
          <a:p>
            <a:r>
              <a:rPr lang="de-DE" sz="1400" dirty="0"/>
              <a:t>[7] </a:t>
            </a:r>
            <a:r>
              <a:rPr lang="de-DE" sz="1400" dirty="0" err="1"/>
              <a:t>Preferred</a:t>
            </a:r>
            <a:r>
              <a:rPr lang="de-DE" sz="1400" dirty="0"/>
              <a:t> Networks Inc., </a:t>
            </a:r>
            <a:r>
              <a:rPr lang="de-DE" sz="1400" dirty="0" err="1"/>
              <a:t>Optuna</a:t>
            </a:r>
            <a:r>
              <a:rPr lang="de-DE" sz="1400" dirty="0"/>
              <a:t> V. 4.0.0, </a:t>
            </a:r>
            <a:r>
              <a:rPr lang="de-DE" sz="1400" dirty="0">
                <a:hlinkClick r:id="rId7"/>
              </a:rPr>
              <a:t>https://optuna.org/</a:t>
            </a:r>
            <a:endParaRPr lang="de-DE" sz="1400" dirty="0"/>
          </a:p>
          <a:p>
            <a:r>
              <a:rPr lang="de-DE" sz="1400" dirty="0"/>
              <a:t>[8] </a:t>
            </a:r>
            <a:r>
              <a:rPr lang="de-DE" sz="1400" dirty="0" err="1"/>
              <a:t>Plotly</a:t>
            </a:r>
            <a:r>
              <a:rPr lang="de-DE" sz="1400" dirty="0"/>
              <a:t> Technologies </a:t>
            </a:r>
            <a:r>
              <a:rPr lang="de-DE" sz="1400" dirty="0" err="1"/>
              <a:t>Inc</a:t>
            </a:r>
            <a:r>
              <a:rPr lang="de-DE" sz="1400" dirty="0"/>
              <a:t>, </a:t>
            </a:r>
            <a:r>
              <a:rPr lang="de-DE" sz="1400" dirty="0" err="1"/>
              <a:t>Plotly</a:t>
            </a:r>
            <a:r>
              <a:rPr lang="de-DE" sz="1400" dirty="0"/>
              <a:t> V. 5.24.0, </a:t>
            </a:r>
            <a:r>
              <a:rPr lang="de-DE" sz="1400" dirty="0">
                <a:hlinkClick r:id="rId8"/>
              </a:rPr>
              <a:t>https://plotly.com/</a:t>
            </a:r>
            <a:endParaRPr lang="de-DE" sz="1400" dirty="0"/>
          </a:p>
          <a:p>
            <a:r>
              <a:rPr lang="de-DE" sz="1400" dirty="0"/>
              <a:t>[9] D. </a:t>
            </a:r>
            <a:r>
              <a:rPr lang="de-DE" sz="1400" dirty="0" err="1"/>
              <a:t>Kingma</a:t>
            </a:r>
            <a:r>
              <a:rPr lang="de-DE" sz="1400" dirty="0"/>
              <a:t>, J. Ba, „Adam: A Method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stochastic</a:t>
            </a:r>
            <a:r>
              <a:rPr lang="de-DE" sz="1400" dirty="0"/>
              <a:t> </a:t>
            </a:r>
            <a:r>
              <a:rPr lang="de-DE" sz="1400" dirty="0" err="1"/>
              <a:t>Optimization</a:t>
            </a:r>
            <a:r>
              <a:rPr lang="de-DE" sz="1400" dirty="0"/>
              <a:t>“, ICLR 2015, arXiv:1412.6980v9</a:t>
            </a:r>
          </a:p>
          <a:p>
            <a:r>
              <a:rPr lang="de-DE" sz="1400" dirty="0"/>
              <a:t>[10] I. </a:t>
            </a:r>
            <a:r>
              <a:rPr lang="de-DE" sz="1400" dirty="0" err="1"/>
              <a:t>Loshchilov</a:t>
            </a:r>
            <a:r>
              <a:rPr lang="de-DE" sz="1400" dirty="0"/>
              <a:t>, F. Hutter, „</a:t>
            </a:r>
            <a:r>
              <a:rPr lang="de-DE" sz="1400" dirty="0" err="1"/>
              <a:t>Decoupled</a:t>
            </a:r>
            <a:r>
              <a:rPr lang="de-DE" sz="1400" dirty="0"/>
              <a:t> </a:t>
            </a:r>
            <a:r>
              <a:rPr lang="de-DE" sz="1400" dirty="0" err="1"/>
              <a:t>Weight</a:t>
            </a:r>
            <a:r>
              <a:rPr lang="de-DE" sz="1400" dirty="0"/>
              <a:t> Decay </a:t>
            </a:r>
            <a:r>
              <a:rPr lang="de-DE" sz="1400" dirty="0" err="1"/>
              <a:t>Regularization</a:t>
            </a:r>
            <a:r>
              <a:rPr lang="de-DE" sz="1400" dirty="0"/>
              <a:t>“, ICLR 2019, arXiv:1711.05101v3</a:t>
            </a:r>
          </a:p>
          <a:p>
            <a:r>
              <a:rPr lang="de-DE" sz="1400" dirty="0"/>
              <a:t>[11] L. </a:t>
            </a:r>
            <a:r>
              <a:rPr lang="de-DE" sz="1400" dirty="0" err="1"/>
              <a:t>Monigatti</a:t>
            </a:r>
            <a:r>
              <a:rPr lang="de-DE" sz="1400" dirty="0"/>
              <a:t>, „A Visual Guide </a:t>
            </a:r>
            <a:r>
              <a:rPr lang="de-DE" sz="1400" dirty="0" err="1"/>
              <a:t>to</a:t>
            </a:r>
            <a:r>
              <a:rPr lang="de-DE" sz="1400" dirty="0"/>
              <a:t> Learning Rate </a:t>
            </a:r>
            <a:r>
              <a:rPr lang="de-DE" sz="1400" dirty="0" err="1"/>
              <a:t>Schedulers</a:t>
            </a:r>
            <a:r>
              <a:rPr lang="de-DE" sz="1400" dirty="0"/>
              <a:t> in </a:t>
            </a:r>
            <a:r>
              <a:rPr lang="de-DE" sz="1400" dirty="0" err="1"/>
              <a:t>PyTorch</a:t>
            </a:r>
            <a:r>
              <a:rPr lang="de-DE" sz="1400" dirty="0"/>
              <a:t>“, 2022, </a:t>
            </a:r>
            <a:r>
              <a:rPr lang="de-DE" sz="1400" dirty="0">
                <a:hlinkClick r:id="rId9"/>
              </a:rPr>
              <a:t>https://towardsdatascience.com/a-visual-guide-to-learning-rate-schedulers-in-pytorch-24bbb262c863</a:t>
            </a:r>
            <a:endParaRPr lang="de-DE" sz="1400" dirty="0"/>
          </a:p>
          <a:p>
            <a:r>
              <a:rPr lang="de-DE" sz="1400" dirty="0"/>
              <a:t>[12] J. Howard, S. Ruder, „Universal Language Model Fine-tuning </a:t>
            </a:r>
            <a:r>
              <a:rPr lang="de-DE" sz="1400" dirty="0" err="1"/>
              <a:t>for</a:t>
            </a:r>
            <a:r>
              <a:rPr lang="de-DE" sz="1400" dirty="0"/>
              <a:t> Text Classification“, arXiv:1801.06146v5</a:t>
            </a:r>
          </a:p>
          <a:p>
            <a:r>
              <a:rPr lang="de-DE" sz="1400" dirty="0"/>
              <a:t>[13] B. </a:t>
            </a:r>
            <a:r>
              <a:rPr lang="de-DE" sz="1400" dirty="0" err="1"/>
              <a:t>Fortuner</a:t>
            </a:r>
            <a:r>
              <a:rPr lang="de-DE" sz="1400" dirty="0"/>
              <a:t>, „ml-</a:t>
            </a:r>
            <a:r>
              <a:rPr lang="de-DE" sz="1400" dirty="0" err="1"/>
              <a:t>glossary</a:t>
            </a:r>
            <a:r>
              <a:rPr lang="de-DE" sz="1400" dirty="0"/>
              <a:t>“, last </a:t>
            </a:r>
            <a:r>
              <a:rPr lang="de-DE" sz="1400" dirty="0" err="1"/>
              <a:t>updated</a:t>
            </a:r>
            <a:r>
              <a:rPr lang="de-DE" sz="1400" dirty="0"/>
              <a:t> 2022, https://github.com/bfortuner/ml-glossary/blob/master/docs/loss_functions.rst</a:t>
            </a:r>
          </a:p>
          <a:p>
            <a:r>
              <a:rPr lang="de-DE" sz="1400" dirty="0"/>
              <a:t>[14] M. </a:t>
            </a:r>
            <a:r>
              <a:rPr lang="de-DE" sz="1400" dirty="0" err="1"/>
              <a:t>Ganaie</a:t>
            </a:r>
            <a:r>
              <a:rPr lang="de-DE" sz="1400" dirty="0"/>
              <a:t> et al., „</a:t>
            </a:r>
            <a:r>
              <a:rPr lang="en-US" sz="1400" dirty="0"/>
              <a:t>Ensemble deep learning: A review”, 09.08.2022, </a:t>
            </a:r>
            <a:r>
              <a:rPr lang="en-US" sz="1400" dirty="0" err="1"/>
              <a:t>arXiv</a:t>
            </a:r>
            <a:r>
              <a:rPr lang="en-US" sz="1400" dirty="0"/>
              <a:t>: 2104.02395v3</a:t>
            </a:r>
          </a:p>
          <a:p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772435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CB567-D089-9443-86E5-7FEBC2990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2678" y="782033"/>
            <a:ext cx="8361229" cy="771743"/>
          </a:xfrm>
        </p:spPr>
        <p:txBody>
          <a:bodyPr/>
          <a:lstStyle/>
          <a:p>
            <a:r>
              <a:rPr lang="de-DE" sz="2000" i="1" dirty="0" err="1">
                <a:solidFill>
                  <a:schemeClr val="tx1"/>
                </a:solidFill>
              </a:rPr>
              <a:t>QuelleN</a:t>
            </a:r>
            <a:r>
              <a:rPr lang="de-DE" sz="2000" i="1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E55BF85-FFEB-A906-7F19-DB69907CDC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575" y="293300"/>
            <a:ext cx="3500247" cy="1260476"/>
          </a:xfrm>
          <a:prstGeom prst="rect">
            <a:avLst/>
          </a:prstGeom>
        </p:spPr>
      </p:pic>
      <p:sp>
        <p:nvSpPr>
          <p:cNvPr id="5" name="Untertitel 2">
            <a:extLst>
              <a:ext uri="{FF2B5EF4-FFF2-40B4-BE49-F238E27FC236}">
                <a16:creationId xmlns:a16="http://schemas.microsoft.com/office/drawing/2014/main" id="{074390D2-F4CF-C4A7-0DA2-92CFDC9077CC}"/>
              </a:ext>
            </a:extLst>
          </p:cNvPr>
          <p:cNvSpPr txBox="1">
            <a:spLocks/>
          </p:cNvSpPr>
          <p:nvPr/>
        </p:nvSpPr>
        <p:spPr>
          <a:xfrm>
            <a:off x="157519" y="5500214"/>
            <a:ext cx="7291032" cy="771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Autor: Lars Brinkmann</a:t>
            </a:r>
          </a:p>
          <a:p>
            <a:r>
              <a:rPr lang="de-DE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Matrikelnummer: 7106769</a:t>
            </a:r>
          </a:p>
          <a:p>
            <a:endParaRPr lang="de-DE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179979D-E6F9-91DF-49AD-646D60CB614D}"/>
              </a:ext>
            </a:extLst>
          </p:cNvPr>
          <p:cNvSpPr txBox="1"/>
          <p:nvPr/>
        </p:nvSpPr>
        <p:spPr>
          <a:xfrm>
            <a:off x="1297317" y="1553776"/>
            <a:ext cx="936345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[15] GIGABYTE, “GeForce RTX 3080 Ti Gaming OC 12G”, 2021, https://www.gigabyte.com/de/Graphics-Card/GV-N308TGAMING-OC-12GD#built</a:t>
            </a:r>
          </a:p>
          <a:p>
            <a:r>
              <a:rPr lang="en-US" sz="1400" dirty="0"/>
              <a:t>[16] J. Deng et al., “ImageNet: A large-scale hierarchical image database”, IEEE 2009, </a:t>
            </a:r>
            <a:r>
              <a:rPr lang="en-US" sz="1400" dirty="0">
                <a:hlinkClick r:id="rId3"/>
              </a:rPr>
              <a:t>https://ieeexplore.ieee.org/document/5206848</a:t>
            </a:r>
            <a:endParaRPr lang="en-US" sz="1400" dirty="0"/>
          </a:p>
          <a:p>
            <a:r>
              <a:rPr lang="en-US" sz="1400" dirty="0"/>
              <a:t>[17] T. </a:t>
            </a:r>
            <a:r>
              <a:rPr lang="en-US" sz="1400" dirty="0" err="1"/>
              <a:t>Ridnik</a:t>
            </a:r>
            <a:r>
              <a:rPr lang="en-US" sz="1400" dirty="0"/>
              <a:t> et al., “ImageNet-21K Pretraining for the Masses”, 22.04.2021, arXiv:2104.10972v4</a:t>
            </a:r>
            <a:endParaRPr lang="de-DE" sz="1400" dirty="0"/>
          </a:p>
          <a:p>
            <a:r>
              <a:rPr lang="de-DE" sz="1400" dirty="0"/>
              <a:t>[18] Ross </a:t>
            </a:r>
            <a:r>
              <a:rPr lang="de-DE" sz="1400" dirty="0" err="1"/>
              <a:t>Wightman</a:t>
            </a:r>
            <a:r>
              <a:rPr lang="de-DE" sz="1400" dirty="0"/>
              <a:t>, </a:t>
            </a:r>
            <a:r>
              <a:rPr lang="de-DE" sz="1400" dirty="0" err="1"/>
              <a:t>Hugging</a:t>
            </a:r>
            <a:r>
              <a:rPr lang="de-DE" sz="1400" dirty="0"/>
              <a:t> Face </a:t>
            </a:r>
            <a:r>
              <a:rPr lang="de-DE" sz="1400" dirty="0" err="1"/>
              <a:t>team</a:t>
            </a:r>
            <a:r>
              <a:rPr lang="de-DE" sz="1400" dirty="0"/>
              <a:t>, „Vision Transformer (</a:t>
            </a:r>
            <a:r>
              <a:rPr lang="de-DE" sz="1400" dirty="0" err="1"/>
              <a:t>base-sized</a:t>
            </a:r>
            <a:r>
              <a:rPr lang="de-DE" sz="1400" dirty="0"/>
              <a:t> </a:t>
            </a:r>
            <a:r>
              <a:rPr lang="de-DE" sz="1400" dirty="0" err="1"/>
              <a:t>model</a:t>
            </a:r>
            <a:r>
              <a:rPr lang="de-DE" sz="1400" dirty="0"/>
              <a:t>)“, https://huggingface.co/google/vit-base-patch16-224-in21k </a:t>
            </a:r>
          </a:p>
          <a:p>
            <a:r>
              <a:rPr lang="de-DE" sz="1400" dirty="0"/>
              <a:t>[19] A. </a:t>
            </a:r>
            <a:r>
              <a:rPr lang="de-DE" sz="1400" dirty="0" err="1"/>
              <a:t>Karpathy</a:t>
            </a:r>
            <a:r>
              <a:rPr lang="de-DE" sz="1400" dirty="0"/>
              <a:t>, „t-SNE </a:t>
            </a:r>
            <a:r>
              <a:rPr lang="de-DE" sz="1400" dirty="0" err="1"/>
              <a:t>visualization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CNN </a:t>
            </a:r>
            <a:r>
              <a:rPr lang="de-DE" sz="1400" dirty="0" err="1"/>
              <a:t>codes</a:t>
            </a:r>
            <a:r>
              <a:rPr lang="de-DE" sz="1400" dirty="0"/>
              <a:t>“, </a:t>
            </a:r>
            <a:r>
              <a:rPr lang="de-DE" sz="1400" dirty="0">
                <a:hlinkClick r:id="rId4"/>
              </a:rPr>
              <a:t>https://cs.stanford.edu/people/karpathy/cnnembed/</a:t>
            </a:r>
            <a:endParaRPr lang="de-DE" sz="1400" dirty="0"/>
          </a:p>
          <a:p>
            <a:r>
              <a:rPr lang="de-DE" sz="1400" dirty="0"/>
              <a:t>[20] B. </a:t>
            </a:r>
            <a:r>
              <a:rPr lang="de-DE" sz="1400" dirty="0" err="1"/>
              <a:t>Polyak</a:t>
            </a:r>
            <a:r>
              <a:rPr lang="de-DE" sz="1400" dirty="0"/>
              <a:t>, A. </a:t>
            </a:r>
            <a:r>
              <a:rPr lang="de-DE" sz="1400" dirty="0" err="1"/>
              <a:t>Juditsky</a:t>
            </a:r>
            <a:r>
              <a:rPr lang="de-DE" sz="1400" dirty="0"/>
              <a:t>, „</a:t>
            </a:r>
            <a:r>
              <a:rPr lang="de-DE" sz="1400" dirty="0" err="1"/>
              <a:t>Acceleration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stochastic</a:t>
            </a:r>
            <a:r>
              <a:rPr lang="de-DE" sz="1400" dirty="0"/>
              <a:t> </a:t>
            </a:r>
            <a:r>
              <a:rPr lang="de-DE" sz="1400" dirty="0" err="1"/>
              <a:t>approximation</a:t>
            </a:r>
            <a:r>
              <a:rPr lang="de-DE" sz="1400" dirty="0"/>
              <a:t> </a:t>
            </a:r>
            <a:r>
              <a:rPr lang="de-DE" sz="1400" dirty="0" err="1"/>
              <a:t>by</a:t>
            </a:r>
            <a:r>
              <a:rPr lang="de-DE" sz="1400" dirty="0"/>
              <a:t> </a:t>
            </a:r>
            <a:r>
              <a:rPr lang="de-DE" sz="1400" dirty="0" err="1"/>
              <a:t>averaging</a:t>
            </a:r>
            <a:r>
              <a:rPr lang="de-DE" sz="1400" dirty="0"/>
              <a:t>, SIAM Journal on Control and </a:t>
            </a:r>
            <a:r>
              <a:rPr lang="de-DE" sz="1400" dirty="0" err="1"/>
              <a:t>Optimization</a:t>
            </a:r>
            <a:r>
              <a:rPr lang="de-DE" sz="1400" dirty="0"/>
              <a:t> 1992</a:t>
            </a:r>
          </a:p>
          <a:p>
            <a:r>
              <a:rPr lang="de-DE" sz="1400" dirty="0"/>
              <a:t>[21] A. Bruno, D. Moroni, M. Martinelli, „</a:t>
            </a:r>
            <a:r>
              <a:rPr lang="de-DE" sz="1400" dirty="0" err="1"/>
              <a:t>Efficient</a:t>
            </a:r>
            <a:r>
              <a:rPr lang="de-DE" sz="1400" dirty="0"/>
              <a:t> Adaptive </a:t>
            </a:r>
            <a:r>
              <a:rPr lang="de-DE" sz="1400" dirty="0" err="1"/>
              <a:t>Ensembling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Image Classification“, 31.08.2023, arXiv:2206.07394v3</a:t>
            </a:r>
          </a:p>
          <a:p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191807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BCB567-D089-9443-86E5-7FEBC2990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4" y="1726912"/>
            <a:ext cx="8361229" cy="2098226"/>
          </a:xfrm>
        </p:spPr>
        <p:txBody>
          <a:bodyPr/>
          <a:lstStyle/>
          <a:p>
            <a:r>
              <a:rPr lang="de-DE" sz="4000" i="1" dirty="0"/>
              <a:t>Danke für Ihre Aufmerksamkeit!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E55BF85-FFEB-A906-7F19-DB69907CDC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099" y="260885"/>
            <a:ext cx="4257676" cy="1533234"/>
          </a:xfrm>
          <a:prstGeom prst="rect">
            <a:avLst/>
          </a:prstGeom>
        </p:spPr>
      </p:pic>
      <p:sp>
        <p:nvSpPr>
          <p:cNvPr id="5" name="Untertitel 2">
            <a:extLst>
              <a:ext uri="{FF2B5EF4-FFF2-40B4-BE49-F238E27FC236}">
                <a16:creationId xmlns:a16="http://schemas.microsoft.com/office/drawing/2014/main" id="{074390D2-F4CF-C4A7-0DA2-92CFDC9077CC}"/>
              </a:ext>
            </a:extLst>
          </p:cNvPr>
          <p:cNvSpPr txBox="1">
            <a:spLocks/>
          </p:cNvSpPr>
          <p:nvPr/>
        </p:nvSpPr>
        <p:spPr>
          <a:xfrm>
            <a:off x="157519" y="5500214"/>
            <a:ext cx="7291032" cy="771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Autor: Lars Brinkmann</a:t>
            </a:r>
          </a:p>
          <a:p>
            <a:r>
              <a:rPr lang="de-DE" sz="1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Matrikelnummer: 7106769</a:t>
            </a:r>
          </a:p>
          <a:p>
            <a:endParaRPr lang="de-DE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774738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Ausschnitt</Template>
  <TotalTime>0</TotalTime>
  <Words>1801</Words>
  <Application>Microsoft Office PowerPoint</Application>
  <PresentationFormat>Breitbild</PresentationFormat>
  <Paragraphs>277</Paragraphs>
  <Slides>24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0" baseType="lpstr">
      <vt:lpstr>Aptos</vt:lpstr>
      <vt:lpstr>Arial</vt:lpstr>
      <vt:lpstr>Franklin Gothic Book</vt:lpstr>
      <vt:lpstr>NimbusRomNo9L-Regu</vt:lpstr>
      <vt:lpstr>Wingdings</vt:lpstr>
      <vt:lpstr>Ausschnitt</vt:lpstr>
      <vt:lpstr>KI-Systeme 2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QuelleN:</vt:lpstr>
      <vt:lpstr>QuelleN:</vt:lpstr>
      <vt:lpstr>Danke für Ihre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Brinkmann</dc:creator>
  <cp:lastModifiedBy>Lars Brinkmann</cp:lastModifiedBy>
  <cp:revision>89</cp:revision>
  <dcterms:created xsi:type="dcterms:W3CDTF">2024-06-21T13:11:53Z</dcterms:created>
  <dcterms:modified xsi:type="dcterms:W3CDTF">2025-11-11T22:37:17Z</dcterms:modified>
</cp:coreProperties>
</file>